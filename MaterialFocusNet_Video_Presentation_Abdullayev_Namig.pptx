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cb1023206441ee" /><Relationship Type="http://schemas.openxmlformats.org/officeDocument/2006/relationships/extended-properties" Target="/docProps/app.xml" Id="Rb081bb084b4c4d95" /><Relationship Type="http://schemas.openxmlformats.org/officeDocument/2006/relationships/officeDocument" Target="/ppt/presentation.xml" Id="Rde95c7ac28d34fd8" /></Relationships>
</file>

<file path=ppt/presentation.xml><?xml version="1.0" encoding="utf-8"?>
<p:presentation xmlns:p="http://schemas.openxmlformats.org/presentationml/2006/main">
  <p:sldMasterIdLst>
    <p:sldMasterId xmlns:r="http://schemas.openxmlformats.org/officeDocument/2006/relationships" id="2147483648" r:id="R03b8f029380749c1"/>
  </p:sldMasterIdLst>
  <p:notesMasterIdLst>
    <p:notesMasterId xmlns:r="http://schemas.openxmlformats.org/officeDocument/2006/relationships" r:id="Ra77fdcfb82a5486f"/>
  </p:notesMasterIdLst>
  <p:sldIdLst>
    <p:sldId xmlns:r="http://schemas.openxmlformats.org/officeDocument/2006/relationships" id="256" r:id="Rfd1b113422514945"/>
    <p:sldId xmlns:r="http://schemas.openxmlformats.org/officeDocument/2006/relationships" id="257" r:id="Ree8f55c02c464e31"/>
    <p:sldId xmlns:r="http://schemas.openxmlformats.org/officeDocument/2006/relationships" id="258" r:id="R738cfc1d525841d4"/>
    <p:sldId xmlns:r="http://schemas.openxmlformats.org/officeDocument/2006/relationships" id="259" r:id="R808e0964d8c54fb1"/>
    <p:sldId xmlns:r="http://schemas.openxmlformats.org/officeDocument/2006/relationships" id="260" r:id="Re16af7650e994573"/>
    <p:sldId xmlns:r="http://schemas.openxmlformats.org/officeDocument/2006/relationships" id="261" r:id="Rf87a4dec51dc4a67"/>
    <p:sldId xmlns:r="http://schemas.openxmlformats.org/officeDocument/2006/relationships" id="262" r:id="R4b4ce7b42d374817"/>
    <p:sldId xmlns:r="http://schemas.openxmlformats.org/officeDocument/2006/relationships" id="263" r:id="Re5be1f6d6b3b4750"/>
    <p:sldId xmlns:r="http://schemas.openxmlformats.org/officeDocument/2006/relationships" id="264" r:id="R7cd3f64f91e145c6"/>
    <p:sldId xmlns:r="http://schemas.openxmlformats.org/officeDocument/2006/relationships" id="265" r:id="Ref99529f96ce45d9"/>
    <p:sldId xmlns:r="http://schemas.openxmlformats.org/officeDocument/2006/relationships" id="266" r:id="Rb32db96294b440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a3935a3d044e87" /><Relationship Type="http://schemas.openxmlformats.org/officeDocument/2006/relationships/slideMaster" Target="/ppt/slideMasters/slideMaster1.xml" Id="R03b8f029380749c1" /><Relationship Type="http://schemas.openxmlformats.org/officeDocument/2006/relationships/notesMaster" Target="/ppt/notesMasters/notesMaster1.xml" Id="Ra77fdcfb82a5486f" /><Relationship Type="http://schemas.openxmlformats.org/officeDocument/2006/relationships/presProps" Target="/ppt/presProps.xml" Id="Rbf2fdb143c29444d" /><Relationship Type="http://schemas.openxmlformats.org/officeDocument/2006/relationships/tableStyles" Target="/ppt/tableStyles.xml" Id="Rbe6b7a86b62e4ed2" /><Relationship Type="http://schemas.openxmlformats.org/officeDocument/2006/relationships/slide" Target="/ppt/slides/slide1.xml" Id="Rfd1b113422514945" /><Relationship Type="http://schemas.openxmlformats.org/officeDocument/2006/relationships/slide" Target="/ppt/slides/slide2.xml" Id="Ree8f55c02c464e31" /><Relationship Type="http://schemas.openxmlformats.org/officeDocument/2006/relationships/slide" Target="/ppt/slides/slide3.xml" Id="R738cfc1d525841d4" /><Relationship Type="http://schemas.openxmlformats.org/officeDocument/2006/relationships/slide" Target="/ppt/slides/slide4.xml" Id="R808e0964d8c54fb1" /><Relationship Type="http://schemas.openxmlformats.org/officeDocument/2006/relationships/slide" Target="/ppt/slides/slide5.xml" Id="Re16af7650e994573" /><Relationship Type="http://schemas.openxmlformats.org/officeDocument/2006/relationships/slide" Target="/ppt/slides/slide6.xml" Id="Rf87a4dec51dc4a67" /><Relationship Type="http://schemas.openxmlformats.org/officeDocument/2006/relationships/slide" Target="/ppt/slides/slide7.xml" Id="R4b4ce7b42d374817" /><Relationship Type="http://schemas.openxmlformats.org/officeDocument/2006/relationships/slide" Target="/ppt/slides/slide8.xml" Id="Re5be1f6d6b3b4750" /><Relationship Type="http://schemas.openxmlformats.org/officeDocument/2006/relationships/slide" Target="/ppt/slides/slide9.xml" Id="R7cd3f64f91e145c6" /><Relationship Type="http://schemas.openxmlformats.org/officeDocument/2006/relationships/slide" Target="/ppt/slides/slide10.xml" Id="Ref99529f96ce45d9" /><Relationship Type="http://schemas.openxmlformats.org/officeDocument/2006/relationships/slide" Target="/ppt/slides/slide11.xml" Id="Rb32db96294b440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f0c28a274641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b5bf22f20a418e" /><Relationship Type="http://schemas.openxmlformats.org/officeDocument/2006/relationships/notesMaster" Target="/ppt/notesMasters/notesMaster1.xml" Id="R0da1c456bd924c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447e64e32b4a71" /><Relationship Type="http://schemas.openxmlformats.org/officeDocument/2006/relationships/notesMaster" Target="/ppt/notesMasters/notesMaster1.xml" Id="Rdd37838775554b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bacc838d874830" /><Relationship Type="http://schemas.openxmlformats.org/officeDocument/2006/relationships/notesMaster" Target="/ppt/notesMasters/notesMaster1.xml" Id="Rb18d611e3a9946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8afcb354fc425b" /><Relationship Type="http://schemas.openxmlformats.org/officeDocument/2006/relationships/notesMaster" Target="/ppt/notesMasters/notesMaster1.xml" Id="Rf91f57de98b74e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8f95e121434689" /><Relationship Type="http://schemas.openxmlformats.org/officeDocument/2006/relationships/notesMaster" Target="/ppt/notesMasters/notesMaster1.xml" Id="Rcaf9dee878cf4a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cce47422274f9f" /><Relationship Type="http://schemas.openxmlformats.org/officeDocument/2006/relationships/notesMaster" Target="/ppt/notesMasters/notesMaster1.xml" Id="Red6632e82fab41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d260c63ea54b8a" /><Relationship Type="http://schemas.openxmlformats.org/officeDocument/2006/relationships/notesMaster" Target="/ppt/notesMasters/notesMaster1.xml" Id="R5f8056b6791546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54ed1b84be4fe6" /><Relationship Type="http://schemas.openxmlformats.org/officeDocument/2006/relationships/notesMaster" Target="/ppt/notesMasters/notesMaster1.xml" Id="R3f51b4fb207049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059cdf77584647" /><Relationship Type="http://schemas.openxmlformats.org/officeDocument/2006/relationships/notesMaster" Target="/ppt/notesMasters/notesMaster1.xml" Id="R5a92142529cf41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496db7dd19437b" /><Relationship Type="http://schemas.openxmlformats.org/officeDocument/2006/relationships/notesMaster" Target="/ppt/notesMasters/notesMaster1.xml" Id="R31855e5ffc6544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54702cc4b4e05" /><Relationship Type="http://schemas.openxmlformats.org/officeDocument/2006/relationships/notesMaster" Target="/ppt/notesMasters/notesMaster1.xml" Id="Rf5f7f5f39aa14d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My name is Abdullayev Namig. This is my Deep Learning final project, MaterialFocusNet. The project classifies household waste images into six material categories and compares a custom attention-guided CNN with a baseline CNN.</a:t>
            </a:r>
          </a:p>
          <a:p xmlns:a="http://schemas.openxmlformats.org/drawingml/2006/main">
            <a:r>
              <a:t/>
            </a:r>
          </a:p>
          <a:p xmlns:a="http://schemas.openxmlformats.org/drawingml/2006/main">
            <a:r>
              <a:t>Cover illustration generated for this presentation. Dataset: TrashNet, 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Waste sorting is a useful real-world image-classification problem. The model receives one image containing one waste item and predicts one of six material classes. Visual cues such as texture, transparency, shape, and reflections make this difficult with simple rules.</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TrashNet, which contains 2,527 RGB images across six waste classes. Paper has 594 images, while trash has only 137. This imbalance matters, so I use stratified splits and weighted cross-entropy loss.</a:t>
            </a:r>
          </a:p>
          <a:p xmlns:a="http://schemas.openxmlformats.org/drawingml/2006/main">
            <a:r>
              <a:t/>
            </a:r>
          </a:p>
          <a:p xmlns:a="http://schemas.openxmlformats.org/drawingml/2006/main">
            <a:r>
              <a:t>Source: TrashNet dataset, github.com/garythung/trashnet.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split the dataset into training, validation, and held-out test sets. Training uses augmentation to make the model more robust. Validation and test sets use deterministic preprocessing. I calculate normalization values using only training images to avoid data leakage.</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is a three-block CNN. MaterialFocusNet is deeper and includes Squeeze-and-Excitation, or SE, attention in the deeper blocks. SE attention learns which channels are important for material cues such as glass transparency and metal reflections. Both models use Batch Normalization, ReLU, pooling, and dropout.</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the same training protocol. I use AdamW, batch size 32, weighted cross-entropy, a maximum of 60 epochs, and validation macro F1 for checkpoint selection. I want to be transparent: the notebook does not show a separate grid-search table. The validation split guides the selected configuration, and a tuning table is a clear future extension.</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begins by downloading TrashNet and creating the fixed stratified split. Then the same preprocessing and training protocol are used for the baseline and MaterialFocusNet. Finally, each model is evaluated on the held-out test set and the notebook produces metrics and visual outputs.</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final results on the held-out test set. The baseline CNN achieved 69.74 percent accuracy and 69.02 percent macro F1. MaterialFocusNet achieved 72.63 percent accuracy and 71.43 percent macro F1. That is an improvement of 2.41 percentage points in macro F1.</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class-level F1-scores show that cardboard and paper are the strongest categories. Glass, metal, plastic, and trash are more difficult because materials can look similar and trash has fewer training images. This chart supports the need for more diverse images and more examples of the minority class.</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challenges are limited data, class imbalance, visually similar materials, and controlled image backgrounds. In this project, I reduce these risks using augmentation, dropout, weight decay, class-weighted loss, and validation-based checkpoint selection. A real deployment would need more diverse data.</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conclusion, MaterialFocusNet achieved better performance than the baseline CNN. It reached 72.63 percent test accuracy and 71.43 percent macro F1. Future work includes collecting more trash images, testing realistic backgrounds, documenting multiple tuning experiments, and comparing with transfer-learning models. Thank you for watching.</a:t>
            </a:r>
          </a:p>
          <a:p xmlns:a="http://schemas.openxmlformats.org/drawingml/2006/main">
            <a:r>
              <a:t/>
            </a:r>
          </a:p>
          <a:p xmlns:a="http://schemas.openxmlformats.org/drawingml/2006/main">
            <a:r>
              <a:t>Source: project notebook and final held-out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59254b0d9149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0b4b4689e34a85" /><Relationship Type="http://schemas.openxmlformats.org/officeDocument/2006/relationships/slideLayout" Target="/ppt/slideLayouts/slideLayout1.xml" Id="R7fbc7df7ce394c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bc7df7ce394c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29c4c2a0f14cf0" /><Relationship Type="http://schemas.openxmlformats.org/officeDocument/2006/relationships/image" Target="/ppt/media/image.png" Id="Rac815c5c096244b1" /><Relationship Type="http://schemas.openxmlformats.org/officeDocument/2006/relationships/notesSlide" Target="/ppt/notesSlides/notesSlide1.xml" Id="Raa69c36b583b43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6882d9b9f9441c" /><Relationship Type="http://schemas.openxmlformats.org/officeDocument/2006/relationships/notesSlide" Target="/ppt/notesSlides/notesSlide2.xml" Id="R167be7c7b2524e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eac6d224f14e8d" /><Relationship Type="http://schemas.openxmlformats.org/officeDocument/2006/relationships/chart" Target="/ppt/slides/charts/chart1.xml" Id="R58dece8d591b480f" /><Relationship Type="http://schemas.openxmlformats.org/officeDocument/2006/relationships/notesSlide" Target="/ppt/notesSlides/notesSlide3.xml" Id="R1b6d20f2f19143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0a752b298d41b7" /><Relationship Type="http://schemas.openxmlformats.org/officeDocument/2006/relationships/notesSlide" Target="/ppt/notesSlides/notesSlide4.xml" Id="R1d12a8f925a64c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2345bc95f14351" /><Relationship Type="http://schemas.openxmlformats.org/officeDocument/2006/relationships/notesSlide" Target="/ppt/notesSlides/notesSlide5.xml" Id="Rc3c796477ffb45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acc33236f34d00" /><Relationship Type="http://schemas.openxmlformats.org/officeDocument/2006/relationships/notesSlide" Target="/ppt/notesSlides/notesSlide6.xml" Id="R6b4cccaa52bb47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9456daaf3f4632" /><Relationship Type="http://schemas.openxmlformats.org/officeDocument/2006/relationships/notesSlide" Target="/ppt/notesSlides/notesSlide7.xml" Id="R77263271097442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aa2d6b2e084a1c" /><Relationship Type="http://schemas.openxmlformats.org/officeDocument/2006/relationships/chart" Target="/ppt/slides/charts/chart2.xml" Id="Rea5578f788434c49" /><Relationship Type="http://schemas.openxmlformats.org/officeDocument/2006/relationships/notesSlide" Target="/ppt/notesSlides/notesSlide8.xml" Id="R798ef55268684c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cb4aa4a3dd4bce" /><Relationship Type="http://schemas.openxmlformats.org/officeDocument/2006/relationships/notesSlide" Target="/ppt/notesSlides/notesSlide9.xml" Id="R446b4bc3eda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2644b1dbd34338" /><Relationship Type="http://schemas.openxmlformats.org/officeDocument/2006/relationships/notesSlide" Target="/ppt/notesSlides/notesSlide10.xml" Id="R1d127b32578b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4b72fb84e44a9a" /><Relationship Type="http://schemas.openxmlformats.org/officeDocument/2006/relationships/notesSlide" Target="/ppt/notesSlides/notesSlide11.xml" Id="R4a30f78ba4f549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Images</c:v>
          </c:tx>
          <c:spPr>
            <a:solidFill xmlns:a="http://schemas.openxmlformats.org/drawingml/2006/main">
              <a:srgbClr val="087E8B"/>
            </a:solidFill>
          </c:spPr>
          <c:cat>
            <c:strRef>
              <c:f>'Chart Data'!$A$2:$A$7</c:f>
              <c:strCache>
                <c:ptCount val="6"/>
                <c:pt idx="0">
                  <c:v>Paper</c:v>
                </c:pt>
                <c:pt idx="1">
                  <c:v>Glass</c:v>
                </c:pt>
                <c:pt idx="2">
                  <c:v>Plastic</c:v>
                </c:pt>
                <c:pt idx="3">
                  <c:v>Metal</c:v>
                </c:pt>
                <c:pt idx="4">
                  <c:v>Cardboard</c:v>
                </c:pt>
                <c:pt idx="5">
                  <c:v>Trash</c:v>
                </c:pt>
              </c:strCache>
            </c:strRef>
          </c:cat>
          <c:val>
            <c:numRef>
              <c:f>'Chart Data'!$B$2:$B$7</c:f>
              <c:numCache>
                <c:formatCode>General</c:formatCode>
                <c:ptCount val="6"/>
                <c:pt idx="0">
                  <c:v>594</c:v>
                </c:pt>
                <c:pt idx="1">
                  <c:v>501</c:v>
                </c:pt>
                <c:pt idx="2">
                  <c:v>482</c:v>
                </c:pt>
                <c:pt idx="3">
                  <c:v>410</c:v>
                </c:pt>
                <c:pt idx="4">
                  <c:v>403</c:v>
                </c:pt>
                <c:pt idx="5">
                  <c:v>137</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9D8DE"/>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324D"/>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Macro F1</c:v>
          </c:tx>
          <c:spPr>
            <a:solidFill xmlns:a="http://schemas.openxmlformats.org/drawingml/2006/main">
              <a:srgbClr val="2D72D9"/>
            </a:solidFill>
          </c:spPr>
          <c:dPt>
            <c:idx val="1"/>
            <c:invertIfNegative val="0"/>
            <c:spPr>
              <a:solidFill xmlns:a="http://schemas.openxmlformats.org/drawingml/2006/main">
                <a:srgbClr val="087E8B"/>
              </a:solidFill>
            </c:spPr>
          </c:dPt>
          <c:cat>
            <c:strRef>
              <c:f>'Chart Data'!$A$2:$A$3</c:f>
              <c:strCache>
                <c:ptCount val="2"/>
                <c:pt idx="0">
                  <c:v>Baseline CNN</c:v>
                </c:pt>
                <c:pt idx="1">
                  <c:v>MaterialFocusNet</c:v>
                </c:pt>
              </c:strCache>
            </c:strRef>
          </c:cat>
          <c:val>
            <c:numRef>
              <c:f>'Chart Data'!$B$2:$B$3</c:f>
              <c:numCache>
                <c:formatCode>0.00</c:formatCode>
                <c:ptCount val="2"/>
                <c:pt idx="0">
                  <c:v>0.6902</c:v>
                </c:pt>
                <c:pt idx="1">
                  <c:v>0.7143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8DE"/>
            </a:solidFill>
            <a:prstDash val="solid"/>
          </a:ln>
        </c:spPr>
        <c:txPr>
          <a:bodyPr xmlns:a="http://schemas.openxmlformats.org/drawingml/2006/main" anchorCtr="1"/>
          <a:lstStyle xmlns:a="http://schemas.openxmlformats.org/drawingml/2006/main"/>
          <a:p xmlns:a="http://schemas.openxmlformats.org/drawingml/2006/main">
            <a:pPr>
              <a:defRPr sz="1200">
                <a:solidFill>
                  <a:srgbClr val="17324D"/>
                </a:solidFill>
                <a:latin typeface="Arial"/>
                <a:ea typeface="Arial"/>
                <a:cs typeface="Arial"/>
              </a:defRPr>
            </a:pPr>
          </a:p>
        </c:txPr>
        <c:crossAx val="48672768"/>
      </c:catAx>
      <c:valAx>
        <c:axId val="48672768"/>
        <c:scaling>
          <c:orientation val="minMax"/>
          <c:max val="0.75"/>
          <c:min val="0.6"/>
        </c:scaling>
        <c:delete val="0"/>
        <c:axPos val="l"/>
        <c:majorGridlines>
          <c:spPr>
            <a:ln xmlns:a="http://schemas.openxmlformats.org/drawingml/2006/main" w="9525">
              <a:solidFill>
                <a:srgbClr val="DCE8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B7A"/>
                </a:solidFill>
                <a:latin typeface="Arial"/>
                <a:ea typeface="Arial"/>
                <a:cs typeface="Arial"/>
              </a:defRPr>
            </a:pPr>
          </a:p>
        </c:txPr>
        <c:crossAx val="48650112"/>
        <c:crossBetween val="between"/>
        <c:majorUnit val="0.05"/>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c815c5c096244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60166DC-0115-4E90-B201-265F6FBCCCC6}"/>
              </a:ext>
            </a:extLst>
          </p:cNvPr>
          <p:cNvSpPr>
            <a:spLocks xmlns:a="http://schemas.openxmlformats.org/drawingml/2006/main" noGrp="1"/>
          </p:cNvSpPr>
          <p:nvPr/>
        </p:nvSpPr>
        <p:spPr>
          <a:xfrm xmlns:a="http://schemas.openxmlformats.org/drawingml/2006/main">
            <a:off x="0" y="0"/>
            <a:ext cx="6048375" cy="6858000"/>
          </a:xfrm>
          <a:prstGeom xmlns:a="http://schemas.openxmlformats.org/drawingml/2006/main" prst="rect">
            <a:avLst/>
          </a:prstGeom>
          <a:solidFill xmlns:a="http://schemas.openxmlformats.org/drawingml/2006/main">
            <a:srgbClr val="092B3D"/>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5BDC62-D7F4-4A27-B56F-94B9E47A01C1}"/>
              </a:ext>
            </a:extLst>
          </p:cNvPr>
          <p:cNvSpPr>
            <a:spLocks xmlns:a="http://schemas.openxmlformats.org/drawingml/2006/main" noGrp="1"/>
          </p:cNvSpPr>
          <p:nvPr/>
        </p:nvSpPr>
        <p:spPr>
          <a:xfrm xmlns:a="http://schemas.openxmlformats.org/drawingml/2006/main">
            <a:off x="666750" y="1524000"/>
            <a:ext cx="4762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MaterialFocusNet</a:t>
            </a:r>
          </a:p>
        </p:txBody>
      </p:sp>
      <p:sp>
        <p:nvSpPr>
          <p:cNvPr id="4" name="">
            <a:extLst xmlns:a="http://schemas.openxmlformats.org/drawingml/2006/main">
              <a:ext uri="{FF2B5EF4-FFF2-40B4-BE49-F238E27FC236}">
                <a16:creationId xmlns:a16="http://schemas.microsoft.com/office/drawing/2014/main" id="{7D983F39-DB11-4EF7-9276-B50C9533716F}"/>
              </a:ext>
            </a:extLst>
          </p:cNvPr>
          <p:cNvSpPr>
            <a:spLocks xmlns:a="http://schemas.openxmlformats.org/drawingml/2006/main" noGrp="1"/>
          </p:cNvSpPr>
          <p:nvPr/>
        </p:nvSpPr>
        <p:spPr>
          <a:xfrm xmlns:a="http://schemas.openxmlformats.org/drawingml/2006/main">
            <a:off x="666750" y="2238375"/>
            <a:ext cx="4857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0">
                <a:solidFill>
                  <a:srgbClr val="D9F3F3"/>
                </a:solidFill>
                <a:latin typeface="Arial"/>
                <a:ea typeface="Arial"/>
                <a:cs typeface="Arial"/>
              </a:defRPr>
            </a:pPr>
            <a:r>
              <a:rPr sz="2325" b="0">
                <a:solidFill>
                  <a:srgbClr val="D9F3F3"/>
                </a:solidFill>
                <a:latin typeface="Arial"/>
                <a:ea typeface="Arial"/>
                <a:cs typeface="Arial"/>
              </a:rPr>
              <a:t>Attention-Guided Household</a:t>
            </a:r>
          </a:p>
          <a:p xmlns:a="http://schemas.openxmlformats.org/drawingml/2006/main">
            <a:pPr algn="l">
              <a:defRPr sz="2325" b="0">
                <a:solidFill>
                  <a:srgbClr val="D9F3F3"/>
                </a:solidFill>
                <a:latin typeface="Arial"/>
                <a:ea typeface="Arial"/>
                <a:cs typeface="Arial"/>
              </a:defRPr>
            </a:pPr>
            <a:r>
              <a:rPr sz="2325" b="0">
                <a:solidFill>
                  <a:srgbClr val="D9F3F3"/>
                </a:solidFill>
                <a:latin typeface="Arial"/>
                <a:ea typeface="Arial"/>
                <a:cs typeface="Arial"/>
              </a:rPr>
              <a:t>Waste Classification</a:t>
            </a:r>
          </a:p>
        </p:txBody>
      </p:sp>
      <p:sp>
        <p:nvSpPr>
          <p:cNvPr id="5" name="">
            <a:extLst xmlns:a="http://schemas.openxmlformats.org/drawingml/2006/main">
              <a:ext uri="{FF2B5EF4-FFF2-40B4-BE49-F238E27FC236}">
                <a16:creationId xmlns:a16="http://schemas.microsoft.com/office/drawing/2014/main" id="{5AA1E66E-53DF-4128-A8A6-7F20214B02CD}"/>
              </a:ext>
            </a:extLst>
          </p:cNvPr>
          <p:cNvSpPr>
            <a:spLocks xmlns:a="http://schemas.openxmlformats.org/drawingml/2006/main" noGrp="1"/>
          </p:cNvSpPr>
          <p:nvPr/>
        </p:nvSpPr>
        <p:spPr>
          <a:xfrm xmlns:a="http://schemas.openxmlformats.org/drawingml/2006/main">
            <a:off x="6858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A9DCE1"/>
                </a:solidFill>
                <a:latin typeface="Arial"/>
                <a:ea typeface="Arial"/>
                <a:cs typeface="Arial"/>
              </a:defRPr>
            </a:pPr>
            <a:r>
              <a:rPr sz="1425" b="1">
                <a:solidFill>
                  <a:srgbClr val="A9DCE1"/>
                </a:solidFill>
                <a:latin typeface="Arial"/>
                <a:ea typeface="Arial"/>
                <a:cs typeface="Arial"/>
              </a:rPr>
              <a:t>Deep Learning Final Project</a:t>
            </a:r>
          </a:p>
        </p:txBody>
      </p:sp>
      <p:sp>
        <p:nvSpPr>
          <p:cNvPr id="6" name="">
            <a:extLst xmlns:a="http://schemas.openxmlformats.org/drawingml/2006/main">
              <a:ext uri="{FF2B5EF4-FFF2-40B4-BE49-F238E27FC236}">
                <a16:creationId xmlns:a16="http://schemas.microsoft.com/office/drawing/2014/main" id="{CC305272-0F3E-42C2-B218-5A41B4C46F72}"/>
              </a:ext>
            </a:extLst>
          </p:cNvPr>
          <p:cNvSpPr>
            <a:spLocks xmlns:a="http://schemas.openxmlformats.org/drawingml/2006/main" noGrp="1"/>
          </p:cNvSpPr>
          <p:nvPr/>
        </p:nvSpPr>
        <p:spPr>
          <a:xfrm xmlns:a="http://schemas.openxmlformats.org/drawingml/2006/main">
            <a:off x="685800" y="39243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Abdullayev Namig</a:t>
            </a:r>
          </a:p>
        </p:txBody>
      </p:sp>
      <p:sp>
        <p:nvSpPr>
          <p:cNvPr id="7" name="">
            <a:extLst xmlns:a="http://schemas.openxmlformats.org/drawingml/2006/main">
              <a:ext uri="{FF2B5EF4-FFF2-40B4-BE49-F238E27FC236}">
                <a16:creationId xmlns:a16="http://schemas.microsoft.com/office/drawing/2014/main" id="{C1A52BFB-815C-43E0-A506-10A5E97E6475}"/>
              </a:ext>
            </a:extLst>
          </p:cNvPr>
          <p:cNvSpPr>
            <a:spLocks xmlns:a="http://schemas.openxmlformats.org/drawingml/2006/main" noGrp="1"/>
          </p:cNvSpPr>
          <p:nvPr/>
        </p:nvSpPr>
        <p:spPr>
          <a:xfrm xmlns:a="http://schemas.openxmlformats.org/drawingml/2006/main">
            <a:off x="685800" y="600075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0">
                <a:solidFill>
                  <a:srgbClr val="A9DCE1"/>
                </a:solidFill>
                <a:latin typeface="Arial"/>
                <a:ea typeface="Arial"/>
                <a:cs typeface="Arial"/>
              </a:defRPr>
            </a:pPr>
            <a:r>
              <a:rPr sz="1200" b="0">
                <a:solidFill>
                  <a:srgbClr val="A9DCE1"/>
                </a:solidFill>
                <a:latin typeface="Arial"/>
                <a:ea typeface="Arial"/>
                <a:cs typeface="Arial"/>
              </a:rPr>
              <a:t>PyTorch  |  TrashNet  |  Google Colab</a:t>
            </a:r>
          </a:p>
        </p:txBody>
      </p:sp>
    </p:spTree>
    <p:extLst>
      <p:ext uri="{BB962C8B-B14F-4D97-AF65-F5344CB8AC3E}">
        <p14:creationId xmlns:p14="http://schemas.microsoft.com/office/powerpoint/2010/main" val="2047804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2E865F-EDF2-446D-AAFE-3C497EFCBE3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B7E8BA-B7F5-4043-9376-B392666A004E}"/>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Household waste classification</a:t>
            </a:r>
          </a:p>
        </p:txBody>
      </p:sp>
      <p:sp>
        <p:nvSpPr>
          <p:cNvPr id="3" name="">
            <a:extLst xmlns:a="http://schemas.openxmlformats.org/drawingml/2006/main">
              <a:ext uri="{FF2B5EF4-FFF2-40B4-BE49-F238E27FC236}">
                <a16:creationId xmlns:a16="http://schemas.microsoft.com/office/drawing/2014/main" id="{20A1A0A6-E5F4-4840-8DC5-EAEACC9526C0}"/>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A focused computer-vision task for better sorting decisions</a:t>
            </a:r>
          </a:p>
        </p:txBody>
      </p:sp>
      <p:sp>
        <p:nvSpPr>
          <p:cNvPr id="4" name="">
            <a:extLst xmlns:a="http://schemas.openxmlformats.org/drawingml/2006/main">
              <a:ext uri="{FF2B5EF4-FFF2-40B4-BE49-F238E27FC236}">
                <a16:creationId xmlns:a16="http://schemas.microsoft.com/office/drawing/2014/main" id="{7C671E04-D5B1-405C-9415-DD69FC98D649}"/>
              </a:ext>
            </a:extLst>
          </p:cNvPr>
          <p:cNvSpPr>
            <a:spLocks xmlns:a="http://schemas.openxmlformats.org/drawingml/2006/main" noGrp="1"/>
          </p:cNvSpPr>
          <p:nvPr/>
        </p:nvSpPr>
        <p:spPr>
          <a:xfrm xmlns:a="http://schemas.openxmlformats.org/drawingml/2006/main">
            <a:off x="819150" y="18097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950" b="1">
                <a:solidFill>
                  <a:srgbClr val="087E8B"/>
                </a:solidFill>
                <a:latin typeface="Arial"/>
                <a:ea typeface="Arial"/>
                <a:cs typeface="Arial"/>
              </a:defRPr>
            </a:pPr>
            <a:r>
              <a:rPr sz="1950" b="1">
                <a:solidFill>
                  <a:srgbClr val="087E8B"/>
                </a:solidFill>
                <a:latin typeface="Arial"/>
                <a:ea typeface="Arial"/>
                <a:cs typeface="Arial"/>
              </a:rPr>
              <a:t>One image</a:t>
            </a:r>
          </a:p>
        </p:txBody>
      </p:sp>
      <p:sp>
        <p:nvSpPr>
          <p:cNvPr id="5" name="">
            <a:extLst xmlns:a="http://schemas.openxmlformats.org/drawingml/2006/main">
              <a:ext uri="{FF2B5EF4-FFF2-40B4-BE49-F238E27FC236}">
                <a16:creationId xmlns:a16="http://schemas.microsoft.com/office/drawing/2014/main" id="{902F9CDF-2E53-44A1-A0EC-64FDCCEBD349}"/>
              </a:ext>
            </a:extLst>
          </p:cNvPr>
          <p:cNvSpPr>
            <a:spLocks xmlns:a="http://schemas.openxmlformats.org/drawingml/2006/main" noGrp="1"/>
          </p:cNvSpPr>
          <p:nvPr/>
        </p:nvSpPr>
        <p:spPr>
          <a:xfrm xmlns:a="http://schemas.openxmlformats.org/drawingml/2006/main">
            <a:off x="8496300" y="18097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9856"/>
          </a:bodyPr>
          <a:lstStyle xmlns:a="http://schemas.openxmlformats.org/drawingml/2006/main"/>
          <a:p xmlns:a="http://schemas.openxmlformats.org/drawingml/2006/main">
            <a:pPr algn="ctr">
              <a:defRPr sz="1950" b="1">
                <a:solidFill>
                  <a:srgbClr val="087E8B"/>
                </a:solidFill>
                <a:latin typeface="Arial"/>
                <a:ea typeface="Arial"/>
                <a:cs typeface="Arial"/>
              </a:defRPr>
            </a:pPr>
            <a:r>
              <a:rPr sz="1950" b="1">
                <a:solidFill>
                  <a:srgbClr val="087E8B"/>
                </a:solidFill>
                <a:latin typeface="Arial"/>
                <a:ea typeface="Arial"/>
                <a:cs typeface="Arial"/>
              </a:rPr>
              <a:t>One material prediction</a:t>
            </a:r>
          </a:p>
        </p:txBody>
      </p:sp>
      <p:sp>
        <p:nvSpPr>
          <p:cNvPr id="6" name="">
            <a:extLst xmlns:a="http://schemas.openxmlformats.org/drawingml/2006/main">
              <a:ext uri="{FF2B5EF4-FFF2-40B4-BE49-F238E27FC236}">
                <a16:creationId xmlns:a16="http://schemas.microsoft.com/office/drawing/2014/main" id="{CA9E4AB1-5548-4092-8A90-DA8BC4D7817D}"/>
              </a:ext>
            </a:extLst>
          </p:cNvPr>
          <p:cNvSpPr>
            <a:spLocks xmlns:a="http://schemas.openxmlformats.org/drawingml/2006/main" noGrp="1"/>
          </p:cNvSpPr>
          <p:nvPr/>
        </p:nvSpPr>
        <p:spPr>
          <a:xfrm xmlns:a="http://schemas.openxmlformats.org/drawingml/2006/main">
            <a:off x="742950" y="2428875"/>
            <a:ext cx="2667000" cy="1619250"/>
          </a:xfrm>
          <a:prstGeom xmlns:a="http://schemas.openxmlformats.org/drawingml/2006/main" prst="roundRect">
            <a:avLst>
              <a:gd name="adj" fmla="val 4706"/>
            </a:avLst>
          </a:prstGeom>
          <a:solidFill xmlns:a="http://schemas.openxmlformats.org/drawingml/2006/main">
            <a:srgbClr val="EEF5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033BC1-0761-42E9-A0B8-86FC6CC580FB}"/>
              </a:ext>
            </a:extLst>
          </p:cNvPr>
          <p:cNvSpPr>
            <a:spLocks xmlns:a="http://schemas.openxmlformats.org/drawingml/2006/main" noGrp="1"/>
          </p:cNvSpPr>
          <p:nvPr/>
        </p:nvSpPr>
        <p:spPr>
          <a:xfrm xmlns:a="http://schemas.openxmlformats.org/drawingml/2006/main">
            <a:off x="4476750" y="2428875"/>
            <a:ext cx="3238500" cy="1619250"/>
          </a:xfrm>
          <a:prstGeom xmlns:a="http://schemas.openxmlformats.org/drawingml/2006/main" prst="roundRect">
            <a:avLst>
              <a:gd name="adj" fmla="val 4706"/>
            </a:avLst>
          </a:prstGeom>
          <a:solidFill xmlns:a="http://schemas.openxmlformats.org/drawingml/2006/main">
            <a:srgbClr val="E7F7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FDE834-6847-4C71-AE95-58430D0F1429}"/>
              </a:ext>
            </a:extLst>
          </p:cNvPr>
          <p:cNvSpPr>
            <a:spLocks xmlns:a="http://schemas.openxmlformats.org/drawingml/2006/main" noGrp="1"/>
          </p:cNvSpPr>
          <p:nvPr/>
        </p:nvSpPr>
        <p:spPr>
          <a:xfrm xmlns:a="http://schemas.openxmlformats.org/drawingml/2006/main">
            <a:off x="8782050" y="2428875"/>
            <a:ext cx="2667000" cy="1619250"/>
          </a:xfrm>
          <a:prstGeom xmlns:a="http://schemas.openxmlformats.org/drawingml/2006/main" prst="roundRect">
            <a:avLst>
              <a:gd name="adj" fmla="val 4706"/>
            </a:avLst>
          </a:prstGeom>
          <a:solidFill xmlns:a="http://schemas.openxmlformats.org/drawingml/2006/main">
            <a:srgbClr val="FFF4E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9417801-E55E-421D-BEB1-974E5281A3C4}"/>
              </a:ext>
            </a:extLst>
          </p:cNvPr>
          <p:cNvSpPr>
            <a:spLocks xmlns:a="http://schemas.openxmlformats.org/drawingml/2006/main" noGrp="1"/>
          </p:cNvSpPr>
          <p:nvPr/>
        </p:nvSpPr>
        <p:spPr>
          <a:xfrm xmlns:a="http://schemas.openxmlformats.org/drawingml/2006/main">
            <a:off x="1028700" y="28575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6952"/>
          </a:bodyPr>
          <a:lstStyle xmlns:a="http://schemas.openxmlformats.org/drawingml/2006/main"/>
          <a:p xmlns:a="http://schemas.openxmlformats.org/drawingml/2006/main">
            <a:pPr algn="ctr">
              <a:defRPr sz="1800" b="1">
                <a:solidFill>
                  <a:srgbClr val="17324D"/>
                </a:solidFill>
                <a:latin typeface="Arial"/>
                <a:ea typeface="Arial"/>
                <a:cs typeface="Arial"/>
              </a:defRPr>
            </a:pPr>
            <a:r>
              <a:rPr sz="1800" b="1">
                <a:solidFill>
                  <a:srgbClr val="17324D"/>
                </a:solidFill>
                <a:latin typeface="Arial"/>
                <a:ea typeface="Arial"/>
                <a:cs typeface="Arial"/>
              </a:rPr>
              <a:t>A single household-waste item</a:t>
            </a:r>
          </a:p>
        </p:txBody>
      </p:sp>
      <p:sp>
        <p:nvSpPr>
          <p:cNvPr id="10" name="">
            <a:extLst xmlns:a="http://schemas.openxmlformats.org/drawingml/2006/main">
              <a:ext uri="{FF2B5EF4-FFF2-40B4-BE49-F238E27FC236}">
                <a16:creationId xmlns:a16="http://schemas.microsoft.com/office/drawing/2014/main" id="{504D98B9-BFE0-4AE7-A76D-1B7C1E9ABF5C}"/>
              </a:ext>
            </a:extLst>
          </p:cNvPr>
          <p:cNvSpPr>
            <a:spLocks xmlns:a="http://schemas.openxmlformats.org/drawingml/2006/main" noGrp="1"/>
          </p:cNvSpPr>
          <p:nvPr/>
        </p:nvSpPr>
        <p:spPr>
          <a:xfrm xmlns:a="http://schemas.openxmlformats.org/drawingml/2006/main">
            <a:off x="4857750" y="28289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092B3D"/>
                </a:solidFill>
                <a:latin typeface="Arial"/>
                <a:ea typeface="Arial"/>
                <a:cs typeface="Arial"/>
              </a:defRPr>
            </a:pPr>
            <a:r>
              <a:rPr sz="1875" b="1">
                <a:solidFill>
                  <a:srgbClr val="092B3D"/>
                </a:solidFill>
                <a:latin typeface="Arial"/>
                <a:ea typeface="Arial"/>
                <a:cs typeface="Arial"/>
              </a:rPr>
              <a:t>MaterialFocusNet</a:t>
            </a:r>
          </a:p>
          <a:p xmlns:a="http://schemas.openxmlformats.org/drawingml/2006/main">
            <a:pPr algn="ctr">
              <a:defRPr sz="1875" b="1">
                <a:solidFill>
                  <a:srgbClr val="092B3D"/>
                </a:solidFill>
                <a:latin typeface="Arial"/>
                <a:ea typeface="Arial"/>
                <a:cs typeface="Arial"/>
              </a:defRPr>
            </a:pPr>
            <a:r>
              <a:rPr sz="1875" b="1">
                <a:solidFill>
                  <a:srgbClr val="092B3D"/>
                </a:solidFill>
                <a:latin typeface="Arial"/>
                <a:ea typeface="Arial"/>
                <a:cs typeface="Arial"/>
              </a:rPr>
              <a:t>learns visual features</a:t>
            </a:r>
          </a:p>
        </p:txBody>
      </p:sp>
      <p:sp>
        <p:nvSpPr>
          <p:cNvPr id="11" name="">
            <a:extLst xmlns:a="http://schemas.openxmlformats.org/drawingml/2006/main">
              <a:ext uri="{FF2B5EF4-FFF2-40B4-BE49-F238E27FC236}">
                <a16:creationId xmlns:a16="http://schemas.microsoft.com/office/drawing/2014/main" id="{EC1F8A30-3573-474A-B645-42BAB323544C}"/>
              </a:ext>
            </a:extLst>
          </p:cNvPr>
          <p:cNvSpPr>
            <a:spLocks xmlns:a="http://schemas.openxmlformats.org/drawingml/2006/main" noGrp="1"/>
          </p:cNvSpPr>
          <p:nvPr/>
        </p:nvSpPr>
        <p:spPr>
          <a:xfrm xmlns:a="http://schemas.openxmlformats.org/drawingml/2006/main">
            <a:off x="9239250" y="2619375"/>
            <a:ext cx="1762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2672"/>
          </a:bodyPr>
          <a:lstStyle xmlns:a="http://schemas.openxmlformats.org/drawingml/2006/main"/>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cardboard</a:t>
            </a:r>
          </a:p>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glass</a:t>
            </a:r>
          </a:p>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metal</a:t>
            </a:r>
          </a:p>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paper</a:t>
            </a:r>
          </a:p>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plastic</a:t>
            </a:r>
          </a:p>
          <a:p xmlns:a="http://schemas.openxmlformats.org/drawingml/2006/main">
            <a:pPr algn="ctr">
              <a:defRPr sz="1575" b="1">
                <a:solidFill>
                  <a:srgbClr val="17324D"/>
                </a:solidFill>
                <a:latin typeface="Arial"/>
                <a:ea typeface="Arial"/>
                <a:cs typeface="Arial"/>
              </a:defRPr>
            </a:pPr>
            <a:r>
              <a:rPr sz="1575" b="1">
                <a:solidFill>
                  <a:srgbClr val="17324D"/>
                </a:solidFill>
                <a:latin typeface="Arial"/>
                <a:ea typeface="Arial"/>
                <a:cs typeface="Arial"/>
              </a:rPr>
              <a:t>trash</a:t>
            </a:r>
          </a:p>
        </p:txBody>
      </p:sp>
      <p:sp>
        <p:nvSpPr>
          <p:cNvPr id="12" name="">
            <a:extLst xmlns:a="http://schemas.openxmlformats.org/drawingml/2006/main">
              <a:ext uri="{FF2B5EF4-FFF2-40B4-BE49-F238E27FC236}">
                <a16:creationId xmlns:a16="http://schemas.microsoft.com/office/drawing/2014/main" id="{BE1A2797-8301-48CB-87B7-2D483128C7C7}"/>
              </a:ext>
            </a:extLst>
          </p:cNvPr>
          <p:cNvSpPr>
            <a:spLocks xmlns:a="http://schemas.openxmlformats.org/drawingml/2006/main" noGrp="1"/>
          </p:cNvSpPr>
          <p:nvPr/>
        </p:nvSpPr>
        <p:spPr>
          <a:xfrm xmlns:a="http://schemas.openxmlformats.org/drawingml/2006/main">
            <a:off x="1066800" y="476250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0">
                <a:solidFill>
                  <a:srgbClr val="17324D"/>
                </a:solidFill>
                <a:latin typeface="Arial"/>
                <a:ea typeface="Arial"/>
                <a:cs typeface="Arial"/>
              </a:defRPr>
            </a:pPr>
            <a:r>
              <a:rPr sz="1725" b="0">
                <a:solidFill>
                  <a:srgbClr val="17324D"/>
                </a:solidFill>
                <a:latin typeface="Arial"/>
                <a:ea typeface="Arial"/>
                <a:cs typeface="Arial"/>
              </a:rPr>
              <a:t>Why it matters: incorrect sorting contaminates recycling streams. Images contain differences in texture, transparency, shape, and reflection.</a:t>
            </a:r>
          </a:p>
        </p:txBody>
      </p:sp>
      <p:sp>
        <p:nvSpPr>
          <p:cNvPr id="13" name="">
            <a:extLst xmlns:a="http://schemas.openxmlformats.org/drawingml/2006/main">
              <a:ext uri="{FF2B5EF4-FFF2-40B4-BE49-F238E27FC236}">
                <a16:creationId xmlns:a16="http://schemas.microsoft.com/office/drawing/2014/main" id="{A420D8FE-1352-4EAF-8FF5-BB4C110204FB}"/>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2</a:t>
            </a:r>
          </a:p>
        </p:txBody>
      </p:sp>
    </p:spTree>
    <p:extLst>
      <p:ext uri="{BB962C8B-B14F-4D97-AF65-F5344CB8AC3E}">
        <p14:creationId xmlns:p14="http://schemas.microsoft.com/office/powerpoint/2010/main" val="7221078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8EDEB42-2ADD-4BD8-84F8-3599054C3FE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59C208-E3A3-4BAB-94E5-C712BCC3A557}"/>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TrashNet dataset</a:t>
            </a:r>
          </a:p>
        </p:txBody>
      </p:sp>
      <p:sp>
        <p:nvSpPr>
          <p:cNvPr id="3" name="">
            <a:extLst xmlns:a="http://schemas.openxmlformats.org/drawingml/2006/main">
              <a:ext uri="{FF2B5EF4-FFF2-40B4-BE49-F238E27FC236}">
                <a16:creationId xmlns:a16="http://schemas.microsoft.com/office/drawing/2014/main" id="{D0EBC3EC-8D07-41B3-8F3A-03E80EAF4B58}"/>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Public RGB image dataset for waste classification</a:t>
            </a:r>
          </a:p>
        </p:txBody>
      </p:sp>
      <p:sp>
        <p:nvSpPr>
          <p:cNvPr id="4" name="">
            <a:extLst xmlns:a="http://schemas.openxmlformats.org/drawingml/2006/main">
              <a:ext uri="{FF2B5EF4-FFF2-40B4-BE49-F238E27FC236}">
                <a16:creationId xmlns:a16="http://schemas.microsoft.com/office/drawing/2014/main" id="{5310B4E1-D4C5-4662-B47D-2B5A5C4E4E57}"/>
              </a:ext>
            </a:extLst>
          </p:cNvPr>
          <p:cNvSpPr>
            <a:spLocks xmlns:a="http://schemas.openxmlformats.org/drawingml/2006/main" noGrp="1"/>
          </p:cNvSpPr>
          <p:nvPr/>
        </p:nvSpPr>
        <p:spPr>
          <a:xfrm xmlns:a="http://schemas.openxmlformats.org/drawingml/2006/main">
            <a:off x="904875" y="442912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850" b="1">
                <a:solidFill>
                  <a:srgbClr val="087E8B"/>
                </a:solidFill>
                <a:latin typeface="Arial"/>
                <a:ea typeface="Arial"/>
                <a:cs typeface="Arial"/>
              </a:defRPr>
            </a:pPr>
            <a:r>
              <a:rPr sz="2850" b="1">
                <a:solidFill>
                  <a:srgbClr val="087E8B"/>
                </a:solidFill>
                <a:latin typeface="Arial"/>
                <a:ea typeface="Arial"/>
                <a:cs typeface="Arial"/>
              </a:rPr>
              <a:t>2,527</a:t>
            </a:r>
          </a:p>
        </p:txBody>
      </p:sp>
      <p:sp>
        <p:nvSpPr>
          <p:cNvPr id="5" name="">
            <a:extLst xmlns:a="http://schemas.openxmlformats.org/drawingml/2006/main">
              <a:ext uri="{FF2B5EF4-FFF2-40B4-BE49-F238E27FC236}">
                <a16:creationId xmlns:a16="http://schemas.microsoft.com/office/drawing/2014/main" id="{A814450B-68EB-4C83-BC66-59762FC1DDFF}"/>
              </a:ext>
            </a:extLst>
          </p:cNvPr>
          <p:cNvSpPr>
            <a:spLocks xmlns:a="http://schemas.openxmlformats.org/drawingml/2006/main" noGrp="1"/>
          </p:cNvSpPr>
          <p:nvPr/>
        </p:nvSpPr>
        <p:spPr>
          <a:xfrm xmlns:a="http://schemas.openxmlformats.org/drawingml/2006/main">
            <a:off x="904875" y="49911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a:solidFill>
                  <a:srgbClr val="5B6B7A"/>
                </a:solidFill>
                <a:latin typeface="Arial"/>
                <a:ea typeface="Arial"/>
                <a:cs typeface="Arial"/>
              </a:defRPr>
            </a:pPr>
            <a:r>
              <a:rPr sz="1200" b="0">
                <a:solidFill>
                  <a:srgbClr val="5B6B7A"/>
                </a:solidFill>
                <a:latin typeface="Arial"/>
                <a:ea typeface="Arial"/>
                <a:cs typeface="Arial"/>
              </a:rPr>
              <a:t>RGB images</a:t>
            </a:r>
          </a:p>
        </p:txBody>
      </p:sp>
      <p:sp>
        <p:nvSpPr>
          <p:cNvPr id="6" name="">
            <a:extLst xmlns:a="http://schemas.openxmlformats.org/drawingml/2006/main">
              <a:ext uri="{FF2B5EF4-FFF2-40B4-BE49-F238E27FC236}">
                <a16:creationId xmlns:a16="http://schemas.microsoft.com/office/drawing/2014/main" id="{DD4D399B-FAD9-419E-B144-384310D52F1A}"/>
              </a:ext>
            </a:extLst>
          </p:cNvPr>
          <p:cNvSpPr>
            <a:spLocks xmlns:a="http://schemas.openxmlformats.org/drawingml/2006/main" noGrp="1"/>
          </p:cNvSpPr>
          <p:nvPr/>
        </p:nvSpPr>
        <p:spPr>
          <a:xfrm xmlns:a="http://schemas.openxmlformats.org/drawingml/2006/main">
            <a:off x="3524250" y="442912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850" b="1">
                <a:solidFill>
                  <a:srgbClr val="2D72D9"/>
                </a:solidFill>
                <a:latin typeface="Arial"/>
                <a:ea typeface="Arial"/>
                <a:cs typeface="Arial"/>
              </a:defRPr>
            </a:pPr>
            <a:r>
              <a:rPr sz="2850" b="1">
                <a:solidFill>
                  <a:srgbClr val="2D72D9"/>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3476DBE8-D6BA-44C6-B022-7A2C7057DC46}"/>
              </a:ext>
            </a:extLst>
          </p:cNvPr>
          <p:cNvSpPr>
            <a:spLocks xmlns:a="http://schemas.openxmlformats.org/drawingml/2006/main" noGrp="1"/>
          </p:cNvSpPr>
          <p:nvPr/>
        </p:nvSpPr>
        <p:spPr>
          <a:xfrm xmlns:a="http://schemas.openxmlformats.org/drawingml/2006/main">
            <a:off x="3524250" y="49911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a:solidFill>
                  <a:srgbClr val="5B6B7A"/>
                </a:solidFill>
                <a:latin typeface="Arial"/>
                <a:ea typeface="Arial"/>
                <a:cs typeface="Arial"/>
              </a:defRPr>
            </a:pPr>
            <a:r>
              <a:rPr sz="1200" b="0">
                <a:solidFill>
                  <a:srgbClr val="5B6B7A"/>
                </a:solidFill>
                <a:latin typeface="Arial"/>
                <a:ea typeface="Arial"/>
                <a:cs typeface="Arial"/>
              </a:rPr>
              <a:t>classes</a:t>
            </a:r>
          </a:p>
        </p:txBody>
      </p:sp>
      <p:sp>
        <p:nvSpPr>
          <p:cNvPr id="8" name="">
            <a:extLst xmlns:a="http://schemas.openxmlformats.org/drawingml/2006/main">
              <a:ext uri="{FF2B5EF4-FFF2-40B4-BE49-F238E27FC236}">
                <a16:creationId xmlns:a16="http://schemas.microsoft.com/office/drawing/2014/main" id="{F0550246-1242-4A3E-B099-598266606122}"/>
              </a:ext>
            </a:extLst>
          </p:cNvPr>
          <p:cNvSpPr>
            <a:spLocks xmlns:a="http://schemas.openxmlformats.org/drawingml/2006/main" noGrp="1"/>
          </p:cNvSpPr>
          <p:nvPr/>
        </p:nvSpPr>
        <p:spPr>
          <a:xfrm xmlns:a="http://schemas.openxmlformats.org/drawingml/2006/main">
            <a:off x="6143625" y="442912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850" b="1">
                <a:solidFill>
                  <a:srgbClr val="E9A23B"/>
                </a:solidFill>
                <a:latin typeface="Arial"/>
                <a:ea typeface="Arial"/>
                <a:cs typeface="Arial"/>
              </a:defRPr>
            </a:pPr>
            <a:r>
              <a:rPr sz="2850" b="1">
                <a:solidFill>
                  <a:srgbClr val="E9A23B"/>
                </a:solidFill>
                <a:latin typeface="Arial"/>
                <a:ea typeface="Arial"/>
                <a:cs typeface="Arial"/>
              </a:rPr>
              <a:t>70 / 15 / 15</a:t>
            </a:r>
          </a:p>
        </p:txBody>
      </p:sp>
      <p:sp>
        <p:nvSpPr>
          <p:cNvPr id="9" name="">
            <a:extLst xmlns:a="http://schemas.openxmlformats.org/drawingml/2006/main">
              <a:ext uri="{FF2B5EF4-FFF2-40B4-BE49-F238E27FC236}">
                <a16:creationId xmlns:a16="http://schemas.microsoft.com/office/drawing/2014/main" id="{8113B55E-9E78-4C43-8755-A5C3616B8946}"/>
              </a:ext>
            </a:extLst>
          </p:cNvPr>
          <p:cNvSpPr>
            <a:spLocks xmlns:a="http://schemas.openxmlformats.org/drawingml/2006/main" noGrp="1"/>
          </p:cNvSpPr>
          <p:nvPr/>
        </p:nvSpPr>
        <p:spPr>
          <a:xfrm xmlns:a="http://schemas.openxmlformats.org/drawingml/2006/main">
            <a:off x="6143625" y="49911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a:solidFill>
                  <a:srgbClr val="5B6B7A"/>
                </a:solidFill>
                <a:latin typeface="Arial"/>
                <a:ea typeface="Arial"/>
                <a:cs typeface="Arial"/>
              </a:defRPr>
            </a:pPr>
            <a:r>
              <a:rPr sz="1200" b="0">
                <a:solidFill>
                  <a:srgbClr val="5B6B7A"/>
                </a:solidFill>
                <a:latin typeface="Arial"/>
                <a:ea typeface="Arial"/>
                <a:cs typeface="Arial"/>
              </a:rPr>
              <a:t>train / validation / test</a:t>
            </a:r>
          </a:p>
        </p:txBody>
      </p:sp>
      <p:sp>
        <p:nvSpPr>
          <p:cNvPr id="10" name="">
            <a:extLst xmlns:a="http://schemas.openxmlformats.org/drawingml/2006/main">
              <a:ext uri="{FF2B5EF4-FFF2-40B4-BE49-F238E27FC236}">
                <a16:creationId xmlns:a16="http://schemas.microsoft.com/office/drawing/2014/main" id="{11319613-306E-4CEA-A438-966A8576720E}"/>
              </a:ext>
            </a:extLst>
          </p:cNvPr>
          <p:cNvSpPr>
            <a:spLocks xmlns:a="http://schemas.openxmlformats.org/drawingml/2006/main" noGrp="1"/>
          </p:cNvSpPr>
          <p:nvPr/>
        </p:nvSpPr>
        <p:spPr>
          <a:xfrm xmlns:a="http://schemas.openxmlformats.org/drawingml/2006/main">
            <a:off x="8763000" y="442912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850" b="1">
                <a:solidFill>
                  <a:srgbClr val="087E8B"/>
                </a:solidFill>
                <a:latin typeface="Arial"/>
                <a:ea typeface="Arial"/>
                <a:cs typeface="Arial"/>
              </a:defRPr>
            </a:pPr>
            <a:r>
              <a:rPr sz="2850" b="1">
                <a:solidFill>
                  <a:srgbClr val="087E8B"/>
                </a:solidFill>
                <a:latin typeface="Arial"/>
                <a:ea typeface="Arial"/>
                <a:cs typeface="Arial"/>
              </a:rPr>
              <a:t>224 × 224</a:t>
            </a:r>
          </a:p>
        </p:txBody>
      </p:sp>
      <p:sp>
        <p:nvSpPr>
          <p:cNvPr id="11" name="">
            <a:extLst xmlns:a="http://schemas.openxmlformats.org/drawingml/2006/main">
              <a:ext uri="{FF2B5EF4-FFF2-40B4-BE49-F238E27FC236}">
                <a16:creationId xmlns:a16="http://schemas.microsoft.com/office/drawing/2014/main" id="{286FF3F9-D92A-4AD1-B7DB-0A0F4153E244}"/>
              </a:ext>
            </a:extLst>
          </p:cNvPr>
          <p:cNvSpPr>
            <a:spLocks xmlns:a="http://schemas.openxmlformats.org/drawingml/2006/main" noGrp="1"/>
          </p:cNvSpPr>
          <p:nvPr/>
        </p:nvSpPr>
        <p:spPr>
          <a:xfrm xmlns:a="http://schemas.openxmlformats.org/drawingml/2006/main">
            <a:off x="8763000" y="4991100"/>
            <a:ext cx="2333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0">
                <a:solidFill>
                  <a:srgbClr val="5B6B7A"/>
                </a:solidFill>
                <a:latin typeface="Arial"/>
                <a:ea typeface="Arial"/>
                <a:cs typeface="Arial"/>
              </a:defRPr>
            </a:pPr>
            <a:r>
              <a:rPr sz="1200" b="0">
                <a:solidFill>
                  <a:srgbClr val="5B6B7A"/>
                </a:solidFill>
                <a:latin typeface="Arial"/>
                <a:ea typeface="Arial"/>
                <a:cs typeface="Arial"/>
              </a:rPr>
              <a:t>model input</a:t>
            </a:r>
          </a:p>
        </p:txBody>
      </p:sp>
      <p:sp>
        <p:nvSpPr>
          <p:cNvPr id="12" name="">
            <a:extLst xmlns:a="http://schemas.openxmlformats.org/drawingml/2006/main">
              <a:ext uri="{FF2B5EF4-FFF2-40B4-BE49-F238E27FC236}">
                <a16:creationId xmlns:a16="http://schemas.microsoft.com/office/drawing/2014/main" id="{B142EE85-9CD6-40E7-BFD4-E56D533F919A}"/>
              </a:ext>
            </a:extLst>
          </p:cNvPr>
          <p:cNvSpPr>
            <a:spLocks xmlns:a="http://schemas.openxmlformats.org/drawingml/2006/main" noGrp="1"/>
          </p:cNvSpPr>
          <p:nvPr/>
        </p:nvSpPr>
        <p:spPr>
          <a:xfrm xmlns:a="http://schemas.openxmlformats.org/drawingml/2006/main">
            <a:off x="857250" y="17145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950" b="1">
                <a:solidFill>
                  <a:srgbClr val="17324D"/>
                </a:solidFill>
                <a:latin typeface="Arial"/>
                <a:ea typeface="Arial"/>
                <a:cs typeface="Arial"/>
              </a:defRPr>
            </a:pPr>
            <a:r>
              <a:rPr sz="1950" b="1">
                <a:solidFill>
                  <a:srgbClr val="17324D"/>
                </a:solidFill>
                <a:latin typeface="Arial"/>
                <a:ea typeface="Arial"/>
                <a:cs typeface="Arial"/>
              </a:rPr>
              <a:t>Class distribution</a:t>
            </a:r>
          </a:p>
        </p:txBody>
      </p:sp>
      <p:graphicFrame>
        <p:nvGraphicFramePr>
          <p:cNvPr id="28" name="Chart"/>
          <p:cNvGraphicFramePr/>
          <p:nvPr/>
        </p:nvGraphicFramePr>
        <p:xfrm>
          <a:off xmlns:a="http://schemas.openxmlformats.org/drawingml/2006/main" x="952500" y="2190750"/>
          <a:ext xmlns:a="http://schemas.openxmlformats.org/drawingml/2006/main" cx="6858000" cy="1905000"/>
        </p:xfrm>
        <a:graphic xmlns:a="http://schemas.openxmlformats.org/drawingml/2006/main">
          <a:graphicData uri="http://schemas.openxmlformats.org/drawingml/2006/chart">
            <c:chart xmlns:r="http://schemas.openxmlformats.org/officeDocument/2006/relationships" xmlns:c="http://schemas.openxmlformats.org/drawingml/2006/chart" r:id="R58dece8d591b480f"/>
          </a:graphicData>
        </a:graphic>
      </p:graphicFrame>
      <p:sp>
        <p:nvSpPr>
          <p:cNvPr id="14" name="">
            <a:extLst xmlns:a="http://schemas.openxmlformats.org/drawingml/2006/main">
              <a:ext uri="{FF2B5EF4-FFF2-40B4-BE49-F238E27FC236}">
                <a16:creationId xmlns:a16="http://schemas.microsoft.com/office/drawing/2014/main" id="{83120F7C-BA74-41E7-80E7-E9A288081C47}"/>
              </a:ext>
            </a:extLst>
          </p:cNvPr>
          <p:cNvSpPr>
            <a:spLocks xmlns:a="http://schemas.openxmlformats.org/drawingml/2006/main" noGrp="1"/>
          </p:cNvSpPr>
          <p:nvPr/>
        </p:nvSpPr>
        <p:spPr>
          <a:xfrm xmlns:a="http://schemas.openxmlformats.org/drawingml/2006/main">
            <a:off x="8429625" y="2476500"/>
            <a:ext cx="266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6667"/>
          </a:bodyPr>
          <a:lstStyle xmlns:a="http://schemas.openxmlformats.org/drawingml/2006/main"/>
          <a:p xmlns:a="http://schemas.openxmlformats.org/drawingml/2006/main">
            <a:pPr algn="ctr">
              <a:defRPr sz="1875" b="0">
                <a:solidFill>
                  <a:srgbClr val="17324D"/>
                </a:solidFill>
                <a:latin typeface="Arial"/>
                <a:ea typeface="Arial"/>
                <a:cs typeface="Arial"/>
              </a:defRPr>
            </a:pPr>
            <a:r>
              <a:rPr sz="1875" b="0">
                <a:solidFill>
                  <a:srgbClr val="17324D"/>
                </a:solidFill>
                <a:latin typeface="Arial"/>
                <a:ea typeface="Arial"/>
                <a:cs typeface="Arial"/>
              </a:rPr>
              <a:t>The trash class has fewer images. I use stratified splits and class-weighted loss to reduce bias toward frequent classes.</a:t>
            </a:r>
          </a:p>
        </p:txBody>
      </p:sp>
      <p:sp>
        <p:nvSpPr>
          <p:cNvPr id="15" name="">
            <a:extLst xmlns:a="http://schemas.openxmlformats.org/drawingml/2006/main">
              <a:ext uri="{FF2B5EF4-FFF2-40B4-BE49-F238E27FC236}">
                <a16:creationId xmlns:a16="http://schemas.microsoft.com/office/drawing/2014/main" id="{00FF56F9-DC55-428C-934E-5D7EF7A17C7F}"/>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3</a:t>
            </a:r>
          </a:p>
        </p:txBody>
      </p:sp>
    </p:spTree>
    <p:extLst>
      <p:ext uri="{BB962C8B-B14F-4D97-AF65-F5344CB8AC3E}">
        <p14:creationId xmlns:p14="http://schemas.microsoft.com/office/powerpoint/2010/main" val="13999682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09AAC95-433F-4FEF-8634-B7F1CD124CE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FE4A73-5D53-4A7C-99D1-1BD019223431}"/>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Data preparation</a:t>
            </a:r>
          </a:p>
        </p:txBody>
      </p:sp>
      <p:sp>
        <p:nvSpPr>
          <p:cNvPr id="3" name="">
            <a:extLst xmlns:a="http://schemas.openxmlformats.org/drawingml/2006/main">
              <a:ext uri="{FF2B5EF4-FFF2-40B4-BE49-F238E27FC236}">
                <a16:creationId xmlns:a16="http://schemas.microsoft.com/office/drawing/2014/main" id="{EB0A87D2-6CDD-4382-9679-BEF2F6D327C7}"/>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Training images vary; validation and test images remain deterministic</a:t>
            </a:r>
          </a:p>
        </p:txBody>
      </p:sp>
      <p:sp>
        <p:nvSpPr>
          <p:cNvPr id="4" name="">
            <a:extLst xmlns:a="http://schemas.openxmlformats.org/drawingml/2006/main">
              <a:ext uri="{FF2B5EF4-FFF2-40B4-BE49-F238E27FC236}">
                <a16:creationId xmlns:a16="http://schemas.microsoft.com/office/drawing/2014/main" id="{2DCF3A54-20A4-49BC-AC9F-5665B56D602E}"/>
              </a:ext>
            </a:extLst>
          </p:cNvPr>
          <p:cNvSpPr>
            <a:spLocks xmlns:a="http://schemas.openxmlformats.org/drawingml/2006/main" noGrp="1"/>
          </p:cNvSpPr>
          <p:nvPr/>
        </p:nvSpPr>
        <p:spPr>
          <a:xfrm xmlns:a="http://schemas.openxmlformats.org/drawingml/2006/main">
            <a:off x="1000125" y="1666875"/>
            <a:ext cx="1000125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080958-B890-4918-9B51-52746C488B71}"/>
              </a:ext>
            </a:extLst>
          </p:cNvPr>
          <p:cNvSpPr>
            <a:spLocks xmlns:a="http://schemas.openxmlformats.org/drawingml/2006/main" noGrp="1"/>
          </p:cNvSpPr>
          <p:nvPr/>
        </p:nvSpPr>
        <p:spPr>
          <a:xfrm xmlns:a="http://schemas.openxmlformats.org/drawingml/2006/main">
            <a:off x="1285875" y="178117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87E8B"/>
                </a:solidFill>
                <a:latin typeface="Arial"/>
                <a:ea typeface="Arial"/>
                <a:cs typeface="Arial"/>
              </a:defRPr>
            </a:pPr>
            <a:r>
              <a:rPr sz="1650" b="1">
                <a:solidFill>
                  <a:srgbClr val="087E8B"/>
                </a:solidFill>
                <a:latin typeface="Arial"/>
                <a:ea typeface="Arial"/>
                <a:cs typeface="Arial"/>
              </a:rPr>
              <a:t>Stratified split</a:t>
            </a:r>
          </a:p>
        </p:txBody>
      </p:sp>
      <p:sp>
        <p:nvSpPr>
          <p:cNvPr id="6" name="">
            <a:extLst xmlns:a="http://schemas.openxmlformats.org/drawingml/2006/main">
              <a:ext uri="{FF2B5EF4-FFF2-40B4-BE49-F238E27FC236}">
                <a16:creationId xmlns:a16="http://schemas.microsoft.com/office/drawing/2014/main" id="{E7D674F5-4DE5-40B5-A307-ECBE049914BB}"/>
              </a:ext>
            </a:extLst>
          </p:cNvPr>
          <p:cNvSpPr>
            <a:spLocks xmlns:a="http://schemas.openxmlformats.org/drawingml/2006/main" noGrp="1"/>
          </p:cNvSpPr>
          <p:nvPr/>
        </p:nvSpPr>
        <p:spPr>
          <a:xfrm xmlns:a="http://schemas.openxmlformats.org/drawingml/2006/main">
            <a:off x="4095750" y="17811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70% training, 15% validation, 15% held-out test</a:t>
            </a:r>
          </a:p>
        </p:txBody>
      </p:sp>
      <p:sp>
        <p:nvSpPr>
          <p:cNvPr id="7" name="">
            <a:extLst xmlns:a="http://schemas.openxmlformats.org/drawingml/2006/main">
              <a:ext uri="{FF2B5EF4-FFF2-40B4-BE49-F238E27FC236}">
                <a16:creationId xmlns:a16="http://schemas.microsoft.com/office/drawing/2014/main" id="{39F4F74B-AC5C-439D-92EA-D5AA98D66479}"/>
              </a:ext>
            </a:extLst>
          </p:cNvPr>
          <p:cNvSpPr>
            <a:spLocks xmlns:a="http://schemas.openxmlformats.org/drawingml/2006/main" noGrp="1"/>
          </p:cNvSpPr>
          <p:nvPr/>
        </p:nvSpPr>
        <p:spPr>
          <a:xfrm xmlns:a="http://schemas.openxmlformats.org/drawingml/2006/main">
            <a:off x="1000125" y="2667000"/>
            <a:ext cx="10001250" cy="704850"/>
          </a:xfrm>
          <a:prstGeom xmlns:a="http://schemas.openxmlformats.org/drawingml/2006/main" prst="roundRect">
            <a:avLst>
              <a:gd name="adj" fmla="val 10811"/>
            </a:avLst>
          </a:prstGeom>
          <a:solidFill xmlns:a="http://schemas.openxmlformats.org/drawingml/2006/main">
            <a:srgbClr val="E7F7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D398A9-86B2-4B4A-A7D8-C983ED18CC63}"/>
              </a:ext>
            </a:extLst>
          </p:cNvPr>
          <p:cNvSpPr>
            <a:spLocks xmlns:a="http://schemas.openxmlformats.org/drawingml/2006/main" noGrp="1"/>
          </p:cNvSpPr>
          <p:nvPr/>
        </p:nvSpPr>
        <p:spPr>
          <a:xfrm xmlns:a="http://schemas.openxmlformats.org/drawingml/2006/main">
            <a:off x="1285875" y="27813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87E8B"/>
                </a:solidFill>
                <a:latin typeface="Arial"/>
                <a:ea typeface="Arial"/>
                <a:cs typeface="Arial"/>
              </a:defRPr>
            </a:pPr>
            <a:r>
              <a:rPr sz="1650" b="1">
                <a:solidFill>
                  <a:srgbClr val="087E8B"/>
                </a:solidFill>
                <a:latin typeface="Arial"/>
                <a:ea typeface="Arial"/>
                <a:cs typeface="Arial"/>
              </a:rPr>
              <a:t>Training transforms</a:t>
            </a:r>
          </a:p>
        </p:txBody>
      </p:sp>
      <p:sp>
        <p:nvSpPr>
          <p:cNvPr id="9" name="">
            <a:extLst xmlns:a="http://schemas.openxmlformats.org/drawingml/2006/main">
              <a:ext uri="{FF2B5EF4-FFF2-40B4-BE49-F238E27FC236}">
                <a16:creationId xmlns:a16="http://schemas.microsoft.com/office/drawing/2014/main" id="{A16BC442-EE05-4804-8C61-0849E2DB4D43}"/>
              </a:ext>
            </a:extLst>
          </p:cNvPr>
          <p:cNvSpPr>
            <a:spLocks xmlns:a="http://schemas.openxmlformats.org/drawingml/2006/main" noGrp="1"/>
          </p:cNvSpPr>
          <p:nvPr/>
        </p:nvSpPr>
        <p:spPr>
          <a:xfrm xmlns:a="http://schemas.openxmlformats.org/drawingml/2006/main">
            <a:off x="4095750" y="27813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Random crop, horizontal flip, rotation, colour jitter</a:t>
            </a:r>
          </a:p>
        </p:txBody>
      </p:sp>
      <p:sp>
        <p:nvSpPr>
          <p:cNvPr id="10" name="">
            <a:extLst xmlns:a="http://schemas.openxmlformats.org/drawingml/2006/main">
              <a:ext uri="{FF2B5EF4-FFF2-40B4-BE49-F238E27FC236}">
                <a16:creationId xmlns:a16="http://schemas.microsoft.com/office/drawing/2014/main" id="{9633B8E8-4BDC-4971-B612-DCAB4B27F4F2}"/>
              </a:ext>
            </a:extLst>
          </p:cNvPr>
          <p:cNvSpPr>
            <a:spLocks xmlns:a="http://schemas.openxmlformats.org/drawingml/2006/main" noGrp="1"/>
          </p:cNvSpPr>
          <p:nvPr/>
        </p:nvSpPr>
        <p:spPr>
          <a:xfrm xmlns:a="http://schemas.openxmlformats.org/drawingml/2006/main">
            <a:off x="1000125" y="3667125"/>
            <a:ext cx="1000125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0A6E9C-2FBD-405E-BCE4-E540F403E729}"/>
              </a:ext>
            </a:extLst>
          </p:cNvPr>
          <p:cNvSpPr>
            <a:spLocks xmlns:a="http://schemas.openxmlformats.org/drawingml/2006/main" noGrp="1"/>
          </p:cNvSpPr>
          <p:nvPr/>
        </p:nvSpPr>
        <p:spPr>
          <a:xfrm xmlns:a="http://schemas.openxmlformats.org/drawingml/2006/main">
            <a:off x="1285875" y="3781425"/>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87E8B"/>
                </a:solidFill>
                <a:latin typeface="Arial"/>
                <a:ea typeface="Arial"/>
                <a:cs typeface="Arial"/>
              </a:defRPr>
            </a:pPr>
            <a:r>
              <a:rPr sz="1650" b="1">
                <a:solidFill>
                  <a:srgbClr val="087E8B"/>
                </a:solidFill>
                <a:latin typeface="Arial"/>
                <a:ea typeface="Arial"/>
                <a:cs typeface="Arial"/>
              </a:rPr>
              <a:t>Evaluation transforms</a:t>
            </a:r>
          </a:p>
        </p:txBody>
      </p:sp>
      <p:sp>
        <p:nvSpPr>
          <p:cNvPr id="12" name="">
            <a:extLst xmlns:a="http://schemas.openxmlformats.org/drawingml/2006/main">
              <a:ext uri="{FF2B5EF4-FFF2-40B4-BE49-F238E27FC236}">
                <a16:creationId xmlns:a16="http://schemas.microsoft.com/office/drawing/2014/main" id="{E5015B0A-5877-47C0-8442-59251D773EA0}"/>
              </a:ext>
            </a:extLst>
          </p:cNvPr>
          <p:cNvSpPr>
            <a:spLocks xmlns:a="http://schemas.openxmlformats.org/drawingml/2006/main" noGrp="1"/>
          </p:cNvSpPr>
          <p:nvPr/>
        </p:nvSpPr>
        <p:spPr>
          <a:xfrm xmlns:a="http://schemas.openxmlformats.org/drawingml/2006/main">
            <a:off x="4095750" y="378142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Resize and centre crop</a:t>
            </a:r>
          </a:p>
        </p:txBody>
      </p:sp>
      <p:sp>
        <p:nvSpPr>
          <p:cNvPr id="13" name="">
            <a:extLst xmlns:a="http://schemas.openxmlformats.org/drawingml/2006/main">
              <a:ext uri="{FF2B5EF4-FFF2-40B4-BE49-F238E27FC236}">
                <a16:creationId xmlns:a16="http://schemas.microsoft.com/office/drawing/2014/main" id="{6B63DEF8-7A07-4503-B6FA-DCE7C8DD530C}"/>
              </a:ext>
            </a:extLst>
          </p:cNvPr>
          <p:cNvSpPr>
            <a:spLocks xmlns:a="http://schemas.openxmlformats.org/drawingml/2006/main" noGrp="1"/>
          </p:cNvSpPr>
          <p:nvPr/>
        </p:nvSpPr>
        <p:spPr>
          <a:xfrm xmlns:a="http://schemas.openxmlformats.org/drawingml/2006/main">
            <a:off x="1000125" y="4667250"/>
            <a:ext cx="1000125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5F9440D-98DA-448D-8BE2-0FB317843850}"/>
              </a:ext>
            </a:extLst>
          </p:cNvPr>
          <p:cNvSpPr>
            <a:spLocks xmlns:a="http://schemas.openxmlformats.org/drawingml/2006/main" noGrp="1"/>
          </p:cNvSpPr>
          <p:nvPr/>
        </p:nvSpPr>
        <p:spPr>
          <a:xfrm xmlns:a="http://schemas.openxmlformats.org/drawingml/2006/main">
            <a:off x="1285875" y="47815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87E8B"/>
                </a:solidFill>
                <a:latin typeface="Arial"/>
                <a:ea typeface="Arial"/>
                <a:cs typeface="Arial"/>
              </a:defRPr>
            </a:pPr>
            <a:r>
              <a:rPr sz="1650" b="1">
                <a:solidFill>
                  <a:srgbClr val="087E8B"/>
                </a:solidFill>
                <a:latin typeface="Arial"/>
                <a:ea typeface="Arial"/>
                <a:cs typeface="Arial"/>
              </a:rPr>
              <a:t>Normalization</a:t>
            </a:r>
          </a:p>
        </p:txBody>
      </p:sp>
      <p:sp>
        <p:nvSpPr>
          <p:cNvPr id="15" name="">
            <a:extLst xmlns:a="http://schemas.openxmlformats.org/drawingml/2006/main">
              <a:ext uri="{FF2B5EF4-FFF2-40B4-BE49-F238E27FC236}">
                <a16:creationId xmlns:a16="http://schemas.microsoft.com/office/drawing/2014/main" id="{0E8C64BC-29D0-49A1-AE53-61CAD04D2667}"/>
              </a:ext>
            </a:extLst>
          </p:cNvPr>
          <p:cNvSpPr>
            <a:spLocks xmlns:a="http://schemas.openxmlformats.org/drawingml/2006/main" noGrp="1"/>
          </p:cNvSpPr>
          <p:nvPr/>
        </p:nvSpPr>
        <p:spPr>
          <a:xfrm xmlns:a="http://schemas.openxmlformats.org/drawingml/2006/main">
            <a:off x="4095750" y="47815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Mean and standard deviation from training images only</a:t>
            </a:r>
          </a:p>
        </p:txBody>
      </p:sp>
      <p:sp>
        <p:nvSpPr>
          <p:cNvPr id="16" name="">
            <a:extLst xmlns:a="http://schemas.openxmlformats.org/drawingml/2006/main">
              <a:ext uri="{FF2B5EF4-FFF2-40B4-BE49-F238E27FC236}">
                <a16:creationId xmlns:a16="http://schemas.microsoft.com/office/drawing/2014/main" id="{60AE99D1-B686-4B8C-8375-BE227CC4C973}"/>
              </a:ext>
            </a:extLst>
          </p:cNvPr>
          <p:cNvSpPr>
            <a:spLocks xmlns:a="http://schemas.openxmlformats.org/drawingml/2006/main" noGrp="1"/>
          </p:cNvSpPr>
          <p:nvPr/>
        </p:nvSpPr>
        <p:spPr>
          <a:xfrm xmlns:a="http://schemas.openxmlformats.org/drawingml/2006/main">
            <a:off x="1000125" y="5810250"/>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75" b="1">
                <a:solidFill>
                  <a:srgbClr val="092B3D"/>
                </a:solidFill>
                <a:latin typeface="Arial"/>
                <a:ea typeface="Arial"/>
                <a:cs typeface="Arial"/>
              </a:defRPr>
            </a:pPr>
            <a:r>
              <a:rPr sz="1875" b="1">
                <a:solidFill>
                  <a:srgbClr val="092B3D"/>
                </a:solidFill>
                <a:latin typeface="Arial"/>
                <a:ea typeface="Arial"/>
                <a:cs typeface="Arial"/>
              </a:rPr>
              <a:t>The held-out test set is never used to choose model settings.</a:t>
            </a:r>
          </a:p>
        </p:txBody>
      </p:sp>
      <p:sp>
        <p:nvSpPr>
          <p:cNvPr id="17" name="">
            <a:extLst xmlns:a="http://schemas.openxmlformats.org/drawingml/2006/main">
              <a:ext uri="{FF2B5EF4-FFF2-40B4-BE49-F238E27FC236}">
                <a16:creationId xmlns:a16="http://schemas.microsoft.com/office/drawing/2014/main" id="{01DFA8E3-E220-492B-83A7-65D35D39A9FF}"/>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4</a:t>
            </a:r>
          </a:p>
        </p:txBody>
      </p:sp>
    </p:spTree>
    <p:extLst>
      <p:ext uri="{BB962C8B-B14F-4D97-AF65-F5344CB8AC3E}">
        <p14:creationId xmlns:p14="http://schemas.microsoft.com/office/powerpoint/2010/main" val="20327470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6B25514-3D4E-4A53-845E-0B7FC685C32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E884CB-5FFF-44FB-9F69-FBF8B4530C74}"/>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Model architecture</a:t>
            </a:r>
          </a:p>
        </p:txBody>
      </p:sp>
      <p:sp>
        <p:nvSpPr>
          <p:cNvPr id="3" name="">
            <a:extLst xmlns:a="http://schemas.openxmlformats.org/drawingml/2006/main">
              <a:ext uri="{FF2B5EF4-FFF2-40B4-BE49-F238E27FC236}">
                <a16:creationId xmlns:a16="http://schemas.microsoft.com/office/drawing/2014/main" id="{59CECED9-63DF-4D21-940C-4009BD91E07B}"/>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A controlled comparison between a simple CNN and MaterialFocusNet</a:t>
            </a:r>
          </a:p>
        </p:txBody>
      </p:sp>
      <p:sp>
        <p:nvSpPr>
          <p:cNvPr id="4" name="">
            <a:extLst xmlns:a="http://schemas.openxmlformats.org/drawingml/2006/main">
              <a:ext uri="{FF2B5EF4-FFF2-40B4-BE49-F238E27FC236}">
                <a16:creationId xmlns:a16="http://schemas.microsoft.com/office/drawing/2014/main" id="{7678B436-8116-407E-9D10-74EEB1379B2B}"/>
              </a:ext>
            </a:extLst>
          </p:cNvPr>
          <p:cNvSpPr>
            <a:spLocks xmlns:a="http://schemas.openxmlformats.org/drawingml/2006/main" noGrp="1"/>
          </p:cNvSpPr>
          <p:nvPr/>
        </p:nvSpPr>
        <p:spPr>
          <a:xfrm xmlns:a="http://schemas.openxmlformats.org/drawingml/2006/main">
            <a:off x="819150" y="15430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25" b="1">
                <a:solidFill>
                  <a:srgbClr val="17324D"/>
                </a:solidFill>
                <a:latin typeface="Arial"/>
                <a:ea typeface="Arial"/>
                <a:cs typeface="Arial"/>
              </a:defRPr>
            </a:pPr>
            <a:r>
              <a:rPr sz="2025" b="1">
                <a:solidFill>
                  <a:srgbClr val="17324D"/>
                </a:solidFill>
                <a:latin typeface="Arial"/>
                <a:ea typeface="Arial"/>
                <a:cs typeface="Arial"/>
              </a:rPr>
              <a:t>Baseline CNN</a:t>
            </a:r>
          </a:p>
        </p:txBody>
      </p:sp>
      <p:sp>
        <p:nvSpPr>
          <p:cNvPr id="5" name="">
            <a:extLst xmlns:a="http://schemas.openxmlformats.org/drawingml/2006/main">
              <a:ext uri="{FF2B5EF4-FFF2-40B4-BE49-F238E27FC236}">
                <a16:creationId xmlns:a16="http://schemas.microsoft.com/office/drawing/2014/main" id="{2D9B043B-7B3B-4F58-9C05-70413E3EE14B}"/>
              </a:ext>
            </a:extLst>
          </p:cNvPr>
          <p:cNvSpPr>
            <a:spLocks xmlns:a="http://schemas.openxmlformats.org/drawingml/2006/main" noGrp="1"/>
          </p:cNvSpPr>
          <p:nvPr/>
        </p:nvSpPr>
        <p:spPr>
          <a:xfrm xmlns:a="http://schemas.openxmlformats.org/drawingml/2006/main">
            <a:off x="7143750" y="15430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25" b="1">
                <a:solidFill>
                  <a:srgbClr val="17324D"/>
                </a:solidFill>
                <a:latin typeface="Arial"/>
                <a:ea typeface="Arial"/>
                <a:cs typeface="Arial"/>
              </a:defRPr>
            </a:pPr>
            <a:r>
              <a:rPr sz="2025" b="1">
                <a:solidFill>
                  <a:srgbClr val="17324D"/>
                </a:solidFill>
                <a:latin typeface="Arial"/>
                <a:ea typeface="Arial"/>
                <a:cs typeface="Arial"/>
              </a:rPr>
              <a:t>MaterialFocusNet</a:t>
            </a:r>
          </a:p>
        </p:txBody>
      </p:sp>
      <p:sp>
        <p:nvSpPr>
          <p:cNvPr id="6" name="">
            <a:extLst xmlns:a="http://schemas.openxmlformats.org/drawingml/2006/main">
              <a:ext uri="{FF2B5EF4-FFF2-40B4-BE49-F238E27FC236}">
                <a16:creationId xmlns:a16="http://schemas.microsoft.com/office/drawing/2014/main" id="{B5722303-6454-41BB-8039-8A6EE1C0881B}"/>
              </a:ext>
            </a:extLst>
          </p:cNvPr>
          <p:cNvSpPr>
            <a:spLocks xmlns:a="http://schemas.openxmlformats.org/drawingml/2006/main" noGrp="1"/>
          </p:cNvSpPr>
          <p:nvPr/>
        </p:nvSpPr>
        <p:spPr>
          <a:xfrm xmlns:a="http://schemas.openxmlformats.org/drawingml/2006/main">
            <a:off x="904875" y="2381250"/>
            <a:ext cx="1219200" cy="1238250"/>
          </a:xfrm>
          <a:prstGeom xmlns:a="http://schemas.openxmlformats.org/drawingml/2006/main" prst="roundRect">
            <a:avLst>
              <a:gd name="adj" fmla="val 6250"/>
            </a:avLst>
          </a:prstGeom>
          <a:solidFill xmlns:a="http://schemas.openxmlformats.org/drawingml/2006/main">
            <a:srgbClr val="EEF5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4A3556-329D-4EE5-9AA9-FCFE1346ECBF}"/>
              </a:ext>
            </a:extLst>
          </p:cNvPr>
          <p:cNvSpPr>
            <a:spLocks xmlns:a="http://schemas.openxmlformats.org/drawingml/2006/main" noGrp="1"/>
          </p:cNvSpPr>
          <p:nvPr/>
        </p:nvSpPr>
        <p:spPr>
          <a:xfrm xmlns:a="http://schemas.openxmlformats.org/drawingml/2006/main">
            <a:off x="1000125" y="25717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087E8B"/>
                </a:solidFill>
                <a:latin typeface="Arial"/>
                <a:ea typeface="Arial"/>
                <a:cs typeface="Arial"/>
              </a:defRPr>
            </a:pPr>
            <a:r>
              <a:rPr sz="1350" b="1">
                <a:solidFill>
                  <a:srgbClr val="087E8B"/>
                </a:solidFill>
                <a:latin typeface="Arial"/>
                <a:ea typeface="Arial"/>
                <a:cs typeface="Arial"/>
              </a:rPr>
              <a:t>Block 1</a:t>
            </a:r>
          </a:p>
        </p:txBody>
      </p:sp>
      <p:sp>
        <p:nvSpPr>
          <p:cNvPr id="8" name="">
            <a:extLst xmlns:a="http://schemas.openxmlformats.org/drawingml/2006/main">
              <a:ext uri="{FF2B5EF4-FFF2-40B4-BE49-F238E27FC236}">
                <a16:creationId xmlns:a16="http://schemas.microsoft.com/office/drawing/2014/main" id="{1162EA58-BE5D-4946-9C85-EE5F4709DA21}"/>
              </a:ext>
            </a:extLst>
          </p:cNvPr>
          <p:cNvSpPr>
            <a:spLocks xmlns:a="http://schemas.openxmlformats.org/drawingml/2006/main" noGrp="1"/>
          </p:cNvSpPr>
          <p:nvPr/>
        </p:nvSpPr>
        <p:spPr>
          <a:xfrm xmlns:a="http://schemas.openxmlformats.org/drawingml/2006/main">
            <a:off x="1000125" y="2905125"/>
            <a:ext cx="1028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Conv 3×3</a:t>
            </a:r>
          </a:p>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32 channels</a:t>
            </a:r>
          </a:p>
        </p:txBody>
      </p:sp>
      <p:sp>
        <p:nvSpPr>
          <p:cNvPr id="9" name="">
            <a:extLst xmlns:a="http://schemas.openxmlformats.org/drawingml/2006/main">
              <a:ext uri="{FF2B5EF4-FFF2-40B4-BE49-F238E27FC236}">
                <a16:creationId xmlns:a16="http://schemas.microsoft.com/office/drawing/2014/main" id="{070B5750-FC4E-4FB3-902B-4895F690CFE4}"/>
              </a:ext>
            </a:extLst>
          </p:cNvPr>
          <p:cNvSpPr>
            <a:spLocks xmlns:a="http://schemas.openxmlformats.org/drawingml/2006/main" noGrp="1"/>
          </p:cNvSpPr>
          <p:nvPr/>
        </p:nvSpPr>
        <p:spPr>
          <a:xfrm xmlns:a="http://schemas.openxmlformats.org/drawingml/2006/main">
            <a:off x="2333625" y="2381250"/>
            <a:ext cx="1219200" cy="1238250"/>
          </a:xfrm>
          <a:prstGeom xmlns:a="http://schemas.openxmlformats.org/drawingml/2006/main" prst="roundRect">
            <a:avLst>
              <a:gd name="adj" fmla="val 6250"/>
            </a:avLst>
          </a:prstGeom>
          <a:solidFill xmlns:a="http://schemas.openxmlformats.org/drawingml/2006/main">
            <a:srgbClr val="EEF5F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9CF99C-038E-4C75-A878-F0DBBA8F66B2}"/>
              </a:ext>
            </a:extLst>
          </p:cNvPr>
          <p:cNvSpPr>
            <a:spLocks xmlns:a="http://schemas.openxmlformats.org/drawingml/2006/main" noGrp="1"/>
          </p:cNvSpPr>
          <p:nvPr/>
        </p:nvSpPr>
        <p:spPr>
          <a:xfrm xmlns:a="http://schemas.openxmlformats.org/drawingml/2006/main">
            <a:off x="2428875" y="25717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087E8B"/>
                </a:solidFill>
                <a:latin typeface="Arial"/>
                <a:ea typeface="Arial"/>
                <a:cs typeface="Arial"/>
              </a:defRPr>
            </a:pPr>
            <a:r>
              <a:rPr sz="1350" b="1">
                <a:solidFill>
                  <a:srgbClr val="087E8B"/>
                </a:solidFill>
                <a:latin typeface="Arial"/>
                <a:ea typeface="Arial"/>
                <a:cs typeface="Arial"/>
              </a:rPr>
              <a:t>Block 2</a:t>
            </a:r>
          </a:p>
        </p:txBody>
      </p:sp>
      <p:sp>
        <p:nvSpPr>
          <p:cNvPr id="11" name="">
            <a:extLst xmlns:a="http://schemas.openxmlformats.org/drawingml/2006/main">
              <a:ext uri="{FF2B5EF4-FFF2-40B4-BE49-F238E27FC236}">
                <a16:creationId xmlns:a16="http://schemas.microsoft.com/office/drawing/2014/main" id="{FBB7F5A4-B97A-4B27-A0FC-C2E9B470413D}"/>
              </a:ext>
            </a:extLst>
          </p:cNvPr>
          <p:cNvSpPr>
            <a:spLocks xmlns:a="http://schemas.openxmlformats.org/drawingml/2006/main" noGrp="1"/>
          </p:cNvSpPr>
          <p:nvPr/>
        </p:nvSpPr>
        <p:spPr>
          <a:xfrm xmlns:a="http://schemas.openxmlformats.org/drawingml/2006/main">
            <a:off x="2428875" y="2905125"/>
            <a:ext cx="1028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Conv 3×3</a:t>
            </a:r>
          </a:p>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64 channels</a:t>
            </a:r>
          </a:p>
        </p:txBody>
      </p:sp>
      <p:sp>
        <p:nvSpPr>
          <p:cNvPr id="12" name="">
            <a:extLst xmlns:a="http://schemas.openxmlformats.org/drawingml/2006/main">
              <a:ext uri="{FF2B5EF4-FFF2-40B4-BE49-F238E27FC236}">
                <a16:creationId xmlns:a16="http://schemas.microsoft.com/office/drawing/2014/main" id="{0678A435-0AC6-44FB-B915-CDDBC30A5875}"/>
              </a:ext>
            </a:extLst>
          </p:cNvPr>
          <p:cNvSpPr>
            <a:spLocks xmlns:a="http://schemas.openxmlformats.org/drawingml/2006/main" noGrp="1"/>
          </p:cNvSpPr>
          <p:nvPr/>
        </p:nvSpPr>
        <p:spPr>
          <a:xfrm xmlns:a="http://schemas.openxmlformats.org/drawingml/2006/main">
            <a:off x="3762375" y="2381250"/>
            <a:ext cx="1219200" cy="1238250"/>
          </a:xfrm>
          <a:prstGeom xmlns:a="http://schemas.openxmlformats.org/drawingml/2006/main" prst="roundRect">
            <a:avLst>
              <a:gd name="adj" fmla="val 6250"/>
            </a:avLst>
          </a:prstGeom>
          <a:solidFill xmlns:a="http://schemas.openxmlformats.org/drawingml/2006/main">
            <a:srgbClr val="EEF5F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0B79E7-F01E-473F-A18E-D8DA3C8BFD0F}"/>
              </a:ext>
            </a:extLst>
          </p:cNvPr>
          <p:cNvSpPr>
            <a:spLocks xmlns:a="http://schemas.openxmlformats.org/drawingml/2006/main" noGrp="1"/>
          </p:cNvSpPr>
          <p:nvPr/>
        </p:nvSpPr>
        <p:spPr>
          <a:xfrm xmlns:a="http://schemas.openxmlformats.org/drawingml/2006/main">
            <a:off x="3857625" y="25717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087E8B"/>
                </a:solidFill>
                <a:latin typeface="Arial"/>
                <a:ea typeface="Arial"/>
                <a:cs typeface="Arial"/>
              </a:defRPr>
            </a:pPr>
            <a:r>
              <a:rPr sz="1350" b="1">
                <a:solidFill>
                  <a:srgbClr val="087E8B"/>
                </a:solidFill>
                <a:latin typeface="Arial"/>
                <a:ea typeface="Arial"/>
                <a:cs typeface="Arial"/>
              </a:rPr>
              <a:t>Block 3</a:t>
            </a:r>
          </a:p>
        </p:txBody>
      </p:sp>
      <p:sp>
        <p:nvSpPr>
          <p:cNvPr id="14" name="">
            <a:extLst xmlns:a="http://schemas.openxmlformats.org/drawingml/2006/main">
              <a:ext uri="{FF2B5EF4-FFF2-40B4-BE49-F238E27FC236}">
                <a16:creationId xmlns:a16="http://schemas.microsoft.com/office/drawing/2014/main" id="{DECB78FE-5E65-4059-AFDE-65A7ABE35F9C}"/>
              </a:ext>
            </a:extLst>
          </p:cNvPr>
          <p:cNvSpPr>
            <a:spLocks xmlns:a="http://schemas.openxmlformats.org/drawingml/2006/main" noGrp="1"/>
          </p:cNvSpPr>
          <p:nvPr/>
        </p:nvSpPr>
        <p:spPr>
          <a:xfrm xmlns:a="http://schemas.openxmlformats.org/drawingml/2006/main">
            <a:off x="3857625" y="2905125"/>
            <a:ext cx="1028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Conv 3×3</a:t>
            </a:r>
          </a:p>
          <a:p xmlns:a="http://schemas.openxmlformats.org/drawingml/2006/main">
            <a:pPr algn="ctr">
              <a:defRPr sz="1350" b="0">
                <a:solidFill>
                  <a:srgbClr val="17324D"/>
                </a:solidFill>
                <a:latin typeface="Arial"/>
                <a:ea typeface="Arial"/>
                <a:cs typeface="Arial"/>
              </a:defRPr>
            </a:pPr>
            <a:r>
              <a:rPr sz="1350" b="0">
                <a:solidFill>
                  <a:srgbClr val="17324D"/>
                </a:solidFill>
                <a:latin typeface="Arial"/>
                <a:ea typeface="Arial"/>
                <a:cs typeface="Arial"/>
              </a:rPr>
              <a:t>128 channels</a:t>
            </a:r>
          </a:p>
        </p:txBody>
      </p:sp>
      <p:sp>
        <p:nvSpPr>
          <p:cNvPr id="15" name="">
            <a:extLst xmlns:a="http://schemas.openxmlformats.org/drawingml/2006/main">
              <a:ext uri="{FF2B5EF4-FFF2-40B4-BE49-F238E27FC236}">
                <a16:creationId xmlns:a16="http://schemas.microsoft.com/office/drawing/2014/main" id="{41FF49E9-7C3A-4789-A082-95218DFD956C}"/>
              </a:ext>
            </a:extLst>
          </p:cNvPr>
          <p:cNvSpPr>
            <a:spLocks xmlns:a="http://schemas.openxmlformats.org/drawingml/2006/main" noGrp="1"/>
          </p:cNvSpPr>
          <p:nvPr/>
        </p:nvSpPr>
        <p:spPr>
          <a:xfrm xmlns:a="http://schemas.openxmlformats.org/drawingml/2006/main">
            <a:off x="1047750" y="4000500"/>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5B6B7A"/>
                </a:solidFill>
                <a:latin typeface="Arial"/>
                <a:ea typeface="Arial"/>
                <a:cs typeface="Arial"/>
              </a:defRPr>
            </a:pPr>
            <a:r>
              <a:rPr sz="1350" b="0">
                <a:solidFill>
                  <a:srgbClr val="5B6B7A"/>
                </a:solidFill>
                <a:latin typeface="Arial"/>
                <a:ea typeface="Arial"/>
                <a:cs typeface="Arial"/>
              </a:rPr>
              <a:t>Adaptive pooling and classifier</a:t>
            </a:r>
          </a:p>
        </p:txBody>
      </p:sp>
      <p:sp>
        <p:nvSpPr>
          <p:cNvPr id="16" name="">
            <a:extLst xmlns:a="http://schemas.openxmlformats.org/drawingml/2006/main">
              <a:ext uri="{FF2B5EF4-FFF2-40B4-BE49-F238E27FC236}">
                <a16:creationId xmlns:a16="http://schemas.microsoft.com/office/drawing/2014/main" id="{BD03E546-F19E-4FE0-81A6-59D40415BC1B}"/>
              </a:ext>
            </a:extLst>
          </p:cNvPr>
          <p:cNvSpPr>
            <a:spLocks xmlns:a="http://schemas.openxmlformats.org/drawingml/2006/main" noGrp="1"/>
          </p:cNvSpPr>
          <p:nvPr/>
        </p:nvSpPr>
        <p:spPr>
          <a:xfrm xmlns:a="http://schemas.openxmlformats.org/drawingml/2006/main">
            <a:off x="6191250" y="2381250"/>
            <a:ext cx="1066800" cy="1238250"/>
          </a:xfrm>
          <a:prstGeom xmlns:a="http://schemas.openxmlformats.org/drawingml/2006/main" prst="roundRect">
            <a:avLst>
              <a:gd name="adj" fmla="val 7143"/>
            </a:avLst>
          </a:prstGeom>
          <a:solidFill xmlns:a="http://schemas.openxmlformats.org/drawingml/2006/main">
            <a:srgbClr val="EEF5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CF43F5E-52C0-4289-B83A-97E401E1F0B1}"/>
              </a:ext>
            </a:extLst>
          </p:cNvPr>
          <p:cNvSpPr>
            <a:spLocks xmlns:a="http://schemas.openxmlformats.org/drawingml/2006/main" noGrp="1"/>
          </p:cNvSpPr>
          <p:nvPr/>
        </p:nvSpPr>
        <p:spPr>
          <a:xfrm xmlns:a="http://schemas.openxmlformats.org/drawingml/2006/main">
            <a:off x="6286500" y="25717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2D72D9"/>
                </a:solidFill>
                <a:latin typeface="Arial"/>
                <a:ea typeface="Arial"/>
                <a:cs typeface="Arial"/>
              </a:defRPr>
            </a:pPr>
            <a:r>
              <a:rPr sz="1275" b="1">
                <a:solidFill>
                  <a:srgbClr val="2D72D9"/>
                </a:solidFill>
                <a:latin typeface="Arial"/>
                <a:ea typeface="Arial"/>
                <a:cs typeface="Arial"/>
              </a:rPr>
              <a:t>Block 1</a:t>
            </a:r>
          </a:p>
        </p:txBody>
      </p:sp>
      <p:sp>
        <p:nvSpPr>
          <p:cNvPr id="18" name="">
            <a:extLst xmlns:a="http://schemas.openxmlformats.org/drawingml/2006/main">
              <a:ext uri="{FF2B5EF4-FFF2-40B4-BE49-F238E27FC236}">
                <a16:creationId xmlns:a16="http://schemas.microsoft.com/office/drawing/2014/main" id="{8A92A995-4142-4CF8-AE9A-28D187CD3448}"/>
              </a:ext>
            </a:extLst>
          </p:cNvPr>
          <p:cNvSpPr>
            <a:spLocks xmlns:a="http://schemas.openxmlformats.org/drawingml/2006/main" noGrp="1"/>
          </p:cNvSpPr>
          <p:nvPr/>
        </p:nvSpPr>
        <p:spPr>
          <a:xfrm xmlns:a="http://schemas.openxmlformats.org/drawingml/2006/main">
            <a:off x="6286500" y="300037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9609"/>
          </a:bodyPr>
          <a:lstStyle xmlns:a="http://schemas.openxmlformats.org/drawingml/2006/main"/>
          <a:p xmlns:a="http://schemas.openxmlformats.org/drawingml/2006/main">
            <a:pPr algn="ctr">
              <a:defRPr sz="1275" b="0">
                <a:solidFill>
                  <a:srgbClr val="17324D"/>
                </a:solidFill>
                <a:latin typeface="Arial"/>
                <a:ea typeface="Arial"/>
                <a:cs typeface="Arial"/>
              </a:defRPr>
            </a:pPr>
            <a:r>
              <a:rPr sz="1275" b="0">
                <a:solidFill>
                  <a:srgbClr val="17324D"/>
                </a:solidFill>
                <a:latin typeface="Arial"/>
                <a:ea typeface="Arial"/>
                <a:cs typeface="Arial"/>
              </a:rPr>
              <a:t>32 channels</a:t>
            </a:r>
          </a:p>
        </p:txBody>
      </p:sp>
      <p:sp>
        <p:nvSpPr>
          <p:cNvPr id="19" name="">
            <a:extLst xmlns:a="http://schemas.openxmlformats.org/drawingml/2006/main">
              <a:ext uri="{FF2B5EF4-FFF2-40B4-BE49-F238E27FC236}">
                <a16:creationId xmlns:a16="http://schemas.microsoft.com/office/drawing/2014/main" id="{074AF9F2-7907-4001-A933-F78F357D4FCC}"/>
              </a:ext>
            </a:extLst>
          </p:cNvPr>
          <p:cNvSpPr>
            <a:spLocks xmlns:a="http://schemas.openxmlformats.org/drawingml/2006/main" noGrp="1"/>
          </p:cNvSpPr>
          <p:nvPr/>
        </p:nvSpPr>
        <p:spPr>
          <a:xfrm xmlns:a="http://schemas.openxmlformats.org/drawingml/2006/main">
            <a:off x="7381875" y="2381250"/>
            <a:ext cx="1066800" cy="1238250"/>
          </a:xfrm>
          <a:prstGeom xmlns:a="http://schemas.openxmlformats.org/drawingml/2006/main" prst="roundRect">
            <a:avLst>
              <a:gd name="adj" fmla="val 7143"/>
            </a:avLst>
          </a:prstGeom>
          <a:solidFill xmlns:a="http://schemas.openxmlformats.org/drawingml/2006/main">
            <a:srgbClr val="EEF5F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25A061D-E7BC-4E53-A38D-FA71724F2E97}"/>
              </a:ext>
            </a:extLst>
          </p:cNvPr>
          <p:cNvSpPr>
            <a:spLocks xmlns:a="http://schemas.openxmlformats.org/drawingml/2006/main" noGrp="1"/>
          </p:cNvSpPr>
          <p:nvPr/>
        </p:nvSpPr>
        <p:spPr>
          <a:xfrm xmlns:a="http://schemas.openxmlformats.org/drawingml/2006/main">
            <a:off x="7477125" y="25717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2D72D9"/>
                </a:solidFill>
                <a:latin typeface="Arial"/>
                <a:ea typeface="Arial"/>
                <a:cs typeface="Arial"/>
              </a:defRPr>
            </a:pPr>
            <a:r>
              <a:rPr sz="1275" b="1">
                <a:solidFill>
                  <a:srgbClr val="2D72D9"/>
                </a:solidFill>
                <a:latin typeface="Arial"/>
                <a:ea typeface="Arial"/>
                <a:cs typeface="Arial"/>
              </a:rPr>
              <a:t>Block 2</a:t>
            </a:r>
          </a:p>
        </p:txBody>
      </p:sp>
      <p:sp>
        <p:nvSpPr>
          <p:cNvPr id="21" name="">
            <a:extLst xmlns:a="http://schemas.openxmlformats.org/drawingml/2006/main">
              <a:ext uri="{FF2B5EF4-FFF2-40B4-BE49-F238E27FC236}">
                <a16:creationId xmlns:a16="http://schemas.microsoft.com/office/drawing/2014/main" id="{1782DEDF-E21B-450E-A766-BD64EB40D833}"/>
              </a:ext>
            </a:extLst>
          </p:cNvPr>
          <p:cNvSpPr>
            <a:spLocks xmlns:a="http://schemas.openxmlformats.org/drawingml/2006/main" noGrp="1"/>
          </p:cNvSpPr>
          <p:nvPr/>
        </p:nvSpPr>
        <p:spPr>
          <a:xfrm xmlns:a="http://schemas.openxmlformats.org/drawingml/2006/main">
            <a:off x="7477125" y="300037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9609"/>
          </a:bodyPr>
          <a:lstStyle xmlns:a="http://schemas.openxmlformats.org/drawingml/2006/main"/>
          <a:p xmlns:a="http://schemas.openxmlformats.org/drawingml/2006/main">
            <a:pPr algn="ctr">
              <a:defRPr sz="1275" b="0">
                <a:solidFill>
                  <a:srgbClr val="17324D"/>
                </a:solidFill>
                <a:latin typeface="Arial"/>
                <a:ea typeface="Arial"/>
                <a:cs typeface="Arial"/>
              </a:defRPr>
            </a:pPr>
            <a:r>
              <a:rPr sz="1275" b="0">
                <a:solidFill>
                  <a:srgbClr val="17324D"/>
                </a:solidFill>
                <a:latin typeface="Arial"/>
                <a:ea typeface="Arial"/>
                <a:cs typeface="Arial"/>
              </a:rPr>
              <a:t>64 channels</a:t>
            </a:r>
          </a:p>
        </p:txBody>
      </p:sp>
      <p:sp>
        <p:nvSpPr>
          <p:cNvPr id="22" name="">
            <a:extLst xmlns:a="http://schemas.openxmlformats.org/drawingml/2006/main">
              <a:ext uri="{FF2B5EF4-FFF2-40B4-BE49-F238E27FC236}">
                <a16:creationId xmlns:a16="http://schemas.microsoft.com/office/drawing/2014/main" id="{359C997D-133C-4D36-B413-8C04E87FCB65}"/>
              </a:ext>
            </a:extLst>
          </p:cNvPr>
          <p:cNvSpPr>
            <a:spLocks xmlns:a="http://schemas.openxmlformats.org/drawingml/2006/main" noGrp="1"/>
          </p:cNvSpPr>
          <p:nvPr/>
        </p:nvSpPr>
        <p:spPr>
          <a:xfrm xmlns:a="http://schemas.openxmlformats.org/drawingml/2006/main">
            <a:off x="8572500" y="2381250"/>
            <a:ext cx="1066800" cy="1238250"/>
          </a:xfrm>
          <a:prstGeom xmlns:a="http://schemas.openxmlformats.org/drawingml/2006/main" prst="roundRect">
            <a:avLst>
              <a:gd name="adj" fmla="val 7143"/>
            </a:avLst>
          </a:prstGeom>
          <a:solidFill xmlns:a="http://schemas.openxmlformats.org/drawingml/2006/main">
            <a:srgbClr val="E7F7F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0693DE8-E97A-43F3-9AB1-AB2DD0E065D7}"/>
              </a:ext>
            </a:extLst>
          </p:cNvPr>
          <p:cNvSpPr>
            <a:spLocks xmlns:a="http://schemas.openxmlformats.org/drawingml/2006/main" noGrp="1"/>
          </p:cNvSpPr>
          <p:nvPr/>
        </p:nvSpPr>
        <p:spPr>
          <a:xfrm xmlns:a="http://schemas.openxmlformats.org/drawingml/2006/main">
            <a:off x="8667750" y="25717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856"/>
          </a:bodyPr>
          <a:lstStyle xmlns:a="http://schemas.openxmlformats.org/drawingml/2006/main"/>
          <a:p xmlns:a="http://schemas.openxmlformats.org/drawingml/2006/main">
            <a:pPr algn="ctr">
              <a:defRPr sz="1275" b="1">
                <a:solidFill>
                  <a:srgbClr val="087E8B"/>
                </a:solidFill>
                <a:latin typeface="Arial"/>
                <a:ea typeface="Arial"/>
                <a:cs typeface="Arial"/>
              </a:defRPr>
            </a:pPr>
            <a:r>
              <a:rPr sz="1275" b="1">
                <a:solidFill>
                  <a:srgbClr val="087E8B"/>
                </a:solidFill>
                <a:latin typeface="Arial"/>
                <a:ea typeface="Arial"/>
                <a:cs typeface="Arial"/>
              </a:rPr>
              <a:t>Block 3 + SE</a:t>
            </a:r>
          </a:p>
        </p:txBody>
      </p:sp>
      <p:sp>
        <p:nvSpPr>
          <p:cNvPr id="24" name="">
            <a:extLst xmlns:a="http://schemas.openxmlformats.org/drawingml/2006/main">
              <a:ext uri="{FF2B5EF4-FFF2-40B4-BE49-F238E27FC236}">
                <a16:creationId xmlns:a16="http://schemas.microsoft.com/office/drawing/2014/main" id="{A82A0970-2AFF-4040-A1E8-914C559477A2}"/>
              </a:ext>
            </a:extLst>
          </p:cNvPr>
          <p:cNvSpPr>
            <a:spLocks xmlns:a="http://schemas.openxmlformats.org/drawingml/2006/main" noGrp="1"/>
          </p:cNvSpPr>
          <p:nvPr/>
        </p:nvSpPr>
        <p:spPr>
          <a:xfrm xmlns:a="http://schemas.openxmlformats.org/drawingml/2006/main">
            <a:off x="8667750" y="300037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0826"/>
          </a:bodyPr>
          <a:lstStyle xmlns:a="http://schemas.openxmlformats.org/drawingml/2006/main"/>
          <a:p xmlns:a="http://schemas.openxmlformats.org/drawingml/2006/main">
            <a:pPr algn="ctr">
              <a:defRPr sz="1275" b="0">
                <a:solidFill>
                  <a:srgbClr val="17324D"/>
                </a:solidFill>
                <a:latin typeface="Arial"/>
                <a:ea typeface="Arial"/>
                <a:cs typeface="Arial"/>
              </a:defRPr>
            </a:pPr>
            <a:r>
              <a:rPr sz="1275" b="0">
                <a:solidFill>
                  <a:srgbClr val="17324D"/>
                </a:solidFill>
                <a:latin typeface="Arial"/>
                <a:ea typeface="Arial"/>
                <a:cs typeface="Arial"/>
              </a:rPr>
              <a:t>128 channels</a:t>
            </a:r>
          </a:p>
        </p:txBody>
      </p:sp>
      <p:sp>
        <p:nvSpPr>
          <p:cNvPr id="25" name="">
            <a:extLst xmlns:a="http://schemas.openxmlformats.org/drawingml/2006/main">
              <a:ext uri="{FF2B5EF4-FFF2-40B4-BE49-F238E27FC236}">
                <a16:creationId xmlns:a16="http://schemas.microsoft.com/office/drawing/2014/main" id="{703033B6-9DE6-4CCC-98E9-49F3D620F661}"/>
              </a:ext>
            </a:extLst>
          </p:cNvPr>
          <p:cNvSpPr>
            <a:spLocks xmlns:a="http://schemas.openxmlformats.org/drawingml/2006/main" noGrp="1"/>
          </p:cNvSpPr>
          <p:nvPr/>
        </p:nvSpPr>
        <p:spPr>
          <a:xfrm xmlns:a="http://schemas.openxmlformats.org/drawingml/2006/main">
            <a:off x="9763125" y="2381250"/>
            <a:ext cx="1066800" cy="1238250"/>
          </a:xfrm>
          <a:prstGeom xmlns:a="http://schemas.openxmlformats.org/drawingml/2006/main" prst="roundRect">
            <a:avLst>
              <a:gd name="adj" fmla="val 7143"/>
            </a:avLst>
          </a:prstGeom>
          <a:solidFill xmlns:a="http://schemas.openxmlformats.org/drawingml/2006/main">
            <a:srgbClr val="E7F7F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EB467F2-00FE-467A-AF0B-2D71EF18257F}"/>
              </a:ext>
            </a:extLst>
          </p:cNvPr>
          <p:cNvSpPr>
            <a:spLocks xmlns:a="http://schemas.openxmlformats.org/drawingml/2006/main" noGrp="1"/>
          </p:cNvSpPr>
          <p:nvPr/>
        </p:nvSpPr>
        <p:spPr>
          <a:xfrm xmlns:a="http://schemas.openxmlformats.org/drawingml/2006/main">
            <a:off x="9858375" y="25717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856"/>
          </a:bodyPr>
          <a:lstStyle xmlns:a="http://schemas.openxmlformats.org/drawingml/2006/main"/>
          <a:p xmlns:a="http://schemas.openxmlformats.org/drawingml/2006/main">
            <a:pPr algn="ctr">
              <a:defRPr sz="1275" b="1">
                <a:solidFill>
                  <a:srgbClr val="087E8B"/>
                </a:solidFill>
                <a:latin typeface="Arial"/>
                <a:ea typeface="Arial"/>
                <a:cs typeface="Arial"/>
              </a:defRPr>
            </a:pPr>
            <a:r>
              <a:rPr sz="1275" b="1">
                <a:solidFill>
                  <a:srgbClr val="087E8B"/>
                </a:solidFill>
                <a:latin typeface="Arial"/>
                <a:ea typeface="Arial"/>
                <a:cs typeface="Arial"/>
              </a:rPr>
              <a:t>Block 4 + SE</a:t>
            </a:r>
          </a:p>
        </p:txBody>
      </p:sp>
      <p:sp>
        <p:nvSpPr>
          <p:cNvPr id="27" name="">
            <a:extLst xmlns:a="http://schemas.openxmlformats.org/drawingml/2006/main">
              <a:ext uri="{FF2B5EF4-FFF2-40B4-BE49-F238E27FC236}">
                <a16:creationId xmlns:a16="http://schemas.microsoft.com/office/drawing/2014/main" id="{876ED225-48FC-4AC3-9E0F-29D65FDFA66C}"/>
              </a:ext>
            </a:extLst>
          </p:cNvPr>
          <p:cNvSpPr>
            <a:spLocks xmlns:a="http://schemas.openxmlformats.org/drawingml/2006/main" noGrp="1"/>
          </p:cNvSpPr>
          <p:nvPr/>
        </p:nvSpPr>
        <p:spPr>
          <a:xfrm xmlns:a="http://schemas.openxmlformats.org/drawingml/2006/main">
            <a:off x="9858375" y="3000375"/>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0826"/>
          </a:bodyPr>
          <a:lstStyle xmlns:a="http://schemas.openxmlformats.org/drawingml/2006/main"/>
          <a:p xmlns:a="http://schemas.openxmlformats.org/drawingml/2006/main">
            <a:pPr algn="ctr">
              <a:defRPr sz="1275" b="0">
                <a:solidFill>
                  <a:srgbClr val="17324D"/>
                </a:solidFill>
                <a:latin typeface="Arial"/>
                <a:ea typeface="Arial"/>
                <a:cs typeface="Arial"/>
              </a:defRPr>
            </a:pPr>
            <a:r>
              <a:rPr sz="1275" b="0">
                <a:solidFill>
                  <a:srgbClr val="17324D"/>
                </a:solidFill>
                <a:latin typeface="Arial"/>
                <a:ea typeface="Arial"/>
                <a:cs typeface="Arial"/>
              </a:rPr>
              <a:t>192 channels</a:t>
            </a:r>
          </a:p>
        </p:txBody>
      </p:sp>
      <p:sp>
        <p:nvSpPr>
          <p:cNvPr id="28" name="">
            <a:extLst xmlns:a="http://schemas.openxmlformats.org/drawingml/2006/main">
              <a:ext uri="{FF2B5EF4-FFF2-40B4-BE49-F238E27FC236}">
                <a16:creationId xmlns:a16="http://schemas.microsoft.com/office/drawing/2014/main" id="{F9D38098-0C1D-4C7C-B83A-AA22316B6D6B}"/>
              </a:ext>
            </a:extLst>
          </p:cNvPr>
          <p:cNvSpPr>
            <a:spLocks xmlns:a="http://schemas.openxmlformats.org/drawingml/2006/main" noGrp="1"/>
          </p:cNvSpPr>
          <p:nvPr/>
        </p:nvSpPr>
        <p:spPr>
          <a:xfrm xmlns:a="http://schemas.openxmlformats.org/drawingml/2006/main">
            <a:off x="6143625" y="4000500"/>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5B6B7A"/>
                </a:solidFill>
                <a:latin typeface="Arial"/>
                <a:ea typeface="Arial"/>
                <a:cs typeface="Arial"/>
              </a:defRPr>
            </a:pPr>
            <a:r>
              <a:rPr sz="1350" b="0">
                <a:solidFill>
                  <a:srgbClr val="5B6B7A"/>
                </a:solidFill>
                <a:latin typeface="Arial"/>
                <a:ea typeface="Arial"/>
                <a:cs typeface="Arial"/>
              </a:rPr>
              <a:t>Squeeze-and-Excitation attention reweights channels that carry useful material cues</a:t>
            </a:r>
          </a:p>
        </p:txBody>
      </p:sp>
      <p:sp>
        <p:nvSpPr>
          <p:cNvPr id="29" name="">
            <a:extLst xmlns:a="http://schemas.openxmlformats.org/drawingml/2006/main">
              <a:ext uri="{FF2B5EF4-FFF2-40B4-BE49-F238E27FC236}">
                <a16:creationId xmlns:a16="http://schemas.microsoft.com/office/drawing/2014/main" id="{CF662B90-FBAD-4038-99ED-825BBD7B8C18}"/>
              </a:ext>
            </a:extLst>
          </p:cNvPr>
          <p:cNvSpPr>
            <a:spLocks xmlns:a="http://schemas.openxmlformats.org/drawingml/2006/main" noGrp="1"/>
          </p:cNvSpPr>
          <p:nvPr/>
        </p:nvSpPr>
        <p:spPr>
          <a:xfrm xmlns:a="http://schemas.openxmlformats.org/drawingml/2006/main">
            <a:off x="1143000" y="5286375"/>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092B3D"/>
                </a:solidFill>
                <a:latin typeface="Arial"/>
                <a:ea typeface="Arial"/>
                <a:cs typeface="Arial"/>
              </a:defRPr>
            </a:pPr>
            <a:r>
              <a:rPr sz="1575" b="1">
                <a:solidFill>
                  <a:srgbClr val="092B3D"/>
                </a:solidFill>
                <a:latin typeface="Arial"/>
                <a:ea typeface="Arial"/>
                <a:cs typeface="Arial"/>
              </a:rPr>
              <a:t>Shared choices: Conv 3×3, BatchNorm, ReLU, max pooling, adaptive average pooling, dropout</a:t>
            </a:r>
          </a:p>
        </p:txBody>
      </p:sp>
      <p:sp>
        <p:nvSpPr>
          <p:cNvPr id="30" name="">
            <a:extLst xmlns:a="http://schemas.openxmlformats.org/drawingml/2006/main">
              <a:ext uri="{FF2B5EF4-FFF2-40B4-BE49-F238E27FC236}">
                <a16:creationId xmlns:a16="http://schemas.microsoft.com/office/drawing/2014/main" id="{4DEED712-939D-44A5-88A4-B3890204D85E}"/>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5</a:t>
            </a:r>
          </a:p>
        </p:txBody>
      </p:sp>
    </p:spTree>
    <p:extLst>
      <p:ext uri="{BB962C8B-B14F-4D97-AF65-F5344CB8AC3E}">
        <p14:creationId xmlns:p14="http://schemas.microsoft.com/office/powerpoint/2010/main" val="15105277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B02858E-0E8F-452E-8CDB-5BC09F4885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D0880C-635C-4AE5-A40E-50B81490F863}"/>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Training and hyperparameter choices</a:t>
            </a:r>
          </a:p>
        </p:txBody>
      </p:sp>
      <p:sp>
        <p:nvSpPr>
          <p:cNvPr id="3" name="">
            <a:extLst xmlns:a="http://schemas.openxmlformats.org/drawingml/2006/main">
              <a:ext uri="{FF2B5EF4-FFF2-40B4-BE49-F238E27FC236}">
                <a16:creationId xmlns:a16="http://schemas.microsoft.com/office/drawing/2014/main" id="{2BA47CB6-52BA-40B8-8B8A-295D751C5EB9}"/>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Validation macro F1 guides checkpoint selection</a:t>
            </a:r>
          </a:p>
        </p:txBody>
      </p:sp>
      <p:sp>
        <p:nvSpPr>
          <p:cNvPr id="4" name="">
            <a:extLst xmlns:a="http://schemas.openxmlformats.org/drawingml/2006/main">
              <a:ext uri="{FF2B5EF4-FFF2-40B4-BE49-F238E27FC236}">
                <a16:creationId xmlns:a16="http://schemas.microsoft.com/office/drawing/2014/main" id="{CBE02579-9237-4873-A178-FD0A47025D05}"/>
              </a:ext>
            </a:extLst>
          </p:cNvPr>
          <p:cNvSpPr>
            <a:spLocks xmlns:a="http://schemas.openxmlformats.org/drawingml/2006/main" noGrp="1"/>
          </p:cNvSpPr>
          <p:nvPr/>
        </p:nvSpPr>
        <p:spPr>
          <a:xfrm xmlns:a="http://schemas.openxmlformats.org/drawingml/2006/main">
            <a:off x="952500" y="1666875"/>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E072FB-198C-4CC5-A1A6-E06631D3ACD7}"/>
              </a:ext>
            </a:extLst>
          </p:cNvPr>
          <p:cNvSpPr>
            <a:spLocks xmlns:a="http://schemas.openxmlformats.org/drawingml/2006/main" noGrp="1"/>
          </p:cNvSpPr>
          <p:nvPr/>
        </p:nvSpPr>
        <p:spPr>
          <a:xfrm xmlns:a="http://schemas.openxmlformats.org/drawingml/2006/main">
            <a:off x="1219200" y="18288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Optimizer</a:t>
            </a:r>
          </a:p>
        </p:txBody>
      </p:sp>
      <p:sp>
        <p:nvSpPr>
          <p:cNvPr id="6" name="">
            <a:extLst xmlns:a="http://schemas.openxmlformats.org/drawingml/2006/main">
              <a:ext uri="{FF2B5EF4-FFF2-40B4-BE49-F238E27FC236}">
                <a16:creationId xmlns:a16="http://schemas.microsoft.com/office/drawing/2014/main" id="{2BF391DC-36E0-4CB9-B2CF-53FA8956FC37}"/>
              </a:ext>
            </a:extLst>
          </p:cNvPr>
          <p:cNvSpPr>
            <a:spLocks xmlns:a="http://schemas.openxmlformats.org/drawingml/2006/main" noGrp="1"/>
          </p:cNvSpPr>
          <p:nvPr/>
        </p:nvSpPr>
        <p:spPr>
          <a:xfrm xmlns:a="http://schemas.openxmlformats.org/drawingml/2006/main">
            <a:off x="3286125" y="18097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AdamW</a:t>
            </a:r>
          </a:p>
        </p:txBody>
      </p:sp>
      <p:sp>
        <p:nvSpPr>
          <p:cNvPr id="7" name="">
            <a:extLst xmlns:a="http://schemas.openxmlformats.org/drawingml/2006/main">
              <a:ext uri="{FF2B5EF4-FFF2-40B4-BE49-F238E27FC236}">
                <a16:creationId xmlns:a16="http://schemas.microsoft.com/office/drawing/2014/main" id="{C6B7EB12-D248-4520-9851-D663F1144A97}"/>
              </a:ext>
            </a:extLst>
          </p:cNvPr>
          <p:cNvSpPr>
            <a:spLocks xmlns:a="http://schemas.openxmlformats.org/drawingml/2006/main" noGrp="1"/>
          </p:cNvSpPr>
          <p:nvPr/>
        </p:nvSpPr>
        <p:spPr>
          <a:xfrm xmlns:a="http://schemas.openxmlformats.org/drawingml/2006/main">
            <a:off x="6191250" y="1666875"/>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B36B16-2EFB-4673-9AAE-581945928325}"/>
              </a:ext>
            </a:extLst>
          </p:cNvPr>
          <p:cNvSpPr>
            <a:spLocks xmlns:a="http://schemas.openxmlformats.org/drawingml/2006/main" noGrp="1"/>
          </p:cNvSpPr>
          <p:nvPr/>
        </p:nvSpPr>
        <p:spPr>
          <a:xfrm xmlns:a="http://schemas.openxmlformats.org/drawingml/2006/main">
            <a:off x="6457950" y="182880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Batch size</a:t>
            </a:r>
          </a:p>
        </p:txBody>
      </p:sp>
      <p:sp>
        <p:nvSpPr>
          <p:cNvPr id="9" name="">
            <a:extLst xmlns:a="http://schemas.openxmlformats.org/drawingml/2006/main">
              <a:ext uri="{FF2B5EF4-FFF2-40B4-BE49-F238E27FC236}">
                <a16:creationId xmlns:a16="http://schemas.microsoft.com/office/drawing/2014/main" id="{F65A4916-77B1-4328-A9BE-14FF07767E32}"/>
              </a:ext>
            </a:extLst>
          </p:cNvPr>
          <p:cNvSpPr>
            <a:spLocks xmlns:a="http://schemas.openxmlformats.org/drawingml/2006/main" noGrp="1"/>
          </p:cNvSpPr>
          <p:nvPr/>
        </p:nvSpPr>
        <p:spPr>
          <a:xfrm xmlns:a="http://schemas.openxmlformats.org/drawingml/2006/main">
            <a:off x="8524875" y="180975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32</a:t>
            </a:r>
          </a:p>
        </p:txBody>
      </p:sp>
      <p:sp>
        <p:nvSpPr>
          <p:cNvPr id="10" name="">
            <a:extLst xmlns:a="http://schemas.openxmlformats.org/drawingml/2006/main">
              <a:ext uri="{FF2B5EF4-FFF2-40B4-BE49-F238E27FC236}">
                <a16:creationId xmlns:a16="http://schemas.microsoft.com/office/drawing/2014/main" id="{110D7CC4-D7A1-4DE0-B99D-D0EFFBD3DA10}"/>
              </a:ext>
            </a:extLst>
          </p:cNvPr>
          <p:cNvSpPr>
            <a:spLocks xmlns:a="http://schemas.openxmlformats.org/drawingml/2006/main" noGrp="1"/>
          </p:cNvSpPr>
          <p:nvPr/>
        </p:nvSpPr>
        <p:spPr>
          <a:xfrm xmlns:a="http://schemas.openxmlformats.org/drawingml/2006/main">
            <a:off x="952500" y="2667000"/>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F9E9E78-7A48-4852-B776-970576981891}"/>
              </a:ext>
            </a:extLst>
          </p:cNvPr>
          <p:cNvSpPr>
            <a:spLocks xmlns:a="http://schemas.openxmlformats.org/drawingml/2006/main" noGrp="1"/>
          </p:cNvSpPr>
          <p:nvPr/>
        </p:nvSpPr>
        <p:spPr>
          <a:xfrm xmlns:a="http://schemas.openxmlformats.org/drawingml/2006/main">
            <a:off x="1219200" y="282892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Maximum epochs</a:t>
            </a:r>
          </a:p>
        </p:txBody>
      </p:sp>
      <p:sp>
        <p:nvSpPr>
          <p:cNvPr id="12" name="">
            <a:extLst xmlns:a="http://schemas.openxmlformats.org/drawingml/2006/main">
              <a:ext uri="{FF2B5EF4-FFF2-40B4-BE49-F238E27FC236}">
                <a16:creationId xmlns:a16="http://schemas.microsoft.com/office/drawing/2014/main" id="{5AE3666F-7FAB-4DCD-AD5B-E124A7A27EE1}"/>
              </a:ext>
            </a:extLst>
          </p:cNvPr>
          <p:cNvSpPr>
            <a:spLocks xmlns:a="http://schemas.openxmlformats.org/drawingml/2006/main" noGrp="1"/>
          </p:cNvSpPr>
          <p:nvPr/>
        </p:nvSpPr>
        <p:spPr>
          <a:xfrm xmlns:a="http://schemas.openxmlformats.org/drawingml/2006/main">
            <a:off x="3286125" y="280987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60</a:t>
            </a:r>
          </a:p>
        </p:txBody>
      </p:sp>
      <p:sp>
        <p:nvSpPr>
          <p:cNvPr id="13" name="">
            <a:extLst xmlns:a="http://schemas.openxmlformats.org/drawingml/2006/main">
              <a:ext uri="{FF2B5EF4-FFF2-40B4-BE49-F238E27FC236}">
                <a16:creationId xmlns:a16="http://schemas.microsoft.com/office/drawing/2014/main" id="{527CFE39-E5ED-4E75-81FA-607E828D330A}"/>
              </a:ext>
            </a:extLst>
          </p:cNvPr>
          <p:cNvSpPr>
            <a:spLocks xmlns:a="http://schemas.openxmlformats.org/drawingml/2006/main" noGrp="1"/>
          </p:cNvSpPr>
          <p:nvPr/>
        </p:nvSpPr>
        <p:spPr>
          <a:xfrm xmlns:a="http://schemas.openxmlformats.org/drawingml/2006/main">
            <a:off x="6191250" y="2667000"/>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3E13F0F-BF7E-48BA-88F0-436B2983AC27}"/>
              </a:ext>
            </a:extLst>
          </p:cNvPr>
          <p:cNvSpPr>
            <a:spLocks xmlns:a="http://schemas.openxmlformats.org/drawingml/2006/main" noGrp="1"/>
          </p:cNvSpPr>
          <p:nvPr/>
        </p:nvSpPr>
        <p:spPr>
          <a:xfrm xmlns:a="http://schemas.openxmlformats.org/drawingml/2006/main">
            <a:off x="6457950" y="282892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Loss</a:t>
            </a:r>
          </a:p>
        </p:txBody>
      </p:sp>
      <p:sp>
        <p:nvSpPr>
          <p:cNvPr id="15" name="">
            <a:extLst xmlns:a="http://schemas.openxmlformats.org/drawingml/2006/main">
              <a:ext uri="{FF2B5EF4-FFF2-40B4-BE49-F238E27FC236}">
                <a16:creationId xmlns:a16="http://schemas.microsoft.com/office/drawing/2014/main" id="{B658FE46-5E10-487A-A93F-95EAF17E4DE0}"/>
              </a:ext>
            </a:extLst>
          </p:cNvPr>
          <p:cNvSpPr>
            <a:spLocks xmlns:a="http://schemas.openxmlformats.org/drawingml/2006/main" noGrp="1"/>
          </p:cNvSpPr>
          <p:nvPr/>
        </p:nvSpPr>
        <p:spPr>
          <a:xfrm xmlns:a="http://schemas.openxmlformats.org/drawingml/2006/main">
            <a:off x="8524875" y="280987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9643"/>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Weighted cross-entropy</a:t>
            </a:r>
          </a:p>
        </p:txBody>
      </p:sp>
      <p:sp>
        <p:nvSpPr>
          <p:cNvPr id="16" name="">
            <a:extLst xmlns:a="http://schemas.openxmlformats.org/drawingml/2006/main">
              <a:ext uri="{FF2B5EF4-FFF2-40B4-BE49-F238E27FC236}">
                <a16:creationId xmlns:a16="http://schemas.microsoft.com/office/drawing/2014/main" id="{B3E3F8D2-1C8A-4FB3-95AF-D8A44ECB26EA}"/>
              </a:ext>
            </a:extLst>
          </p:cNvPr>
          <p:cNvSpPr>
            <a:spLocks xmlns:a="http://schemas.openxmlformats.org/drawingml/2006/main" noGrp="1"/>
          </p:cNvSpPr>
          <p:nvPr/>
        </p:nvSpPr>
        <p:spPr>
          <a:xfrm xmlns:a="http://schemas.openxmlformats.org/drawingml/2006/main">
            <a:off x="952500" y="3667125"/>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180FA95-0CF9-4C18-A950-11AE29CFA9A6}"/>
              </a:ext>
            </a:extLst>
          </p:cNvPr>
          <p:cNvSpPr>
            <a:spLocks xmlns:a="http://schemas.openxmlformats.org/drawingml/2006/main" noGrp="1"/>
          </p:cNvSpPr>
          <p:nvPr/>
        </p:nvSpPr>
        <p:spPr>
          <a:xfrm xmlns:a="http://schemas.openxmlformats.org/drawingml/2006/main">
            <a:off x="1219200" y="38290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Selection metric</a:t>
            </a:r>
          </a:p>
        </p:txBody>
      </p:sp>
      <p:sp>
        <p:nvSpPr>
          <p:cNvPr id="18" name="">
            <a:extLst xmlns:a="http://schemas.openxmlformats.org/drawingml/2006/main">
              <a:ext uri="{FF2B5EF4-FFF2-40B4-BE49-F238E27FC236}">
                <a16:creationId xmlns:a16="http://schemas.microsoft.com/office/drawing/2014/main" id="{787DB6E6-FB6D-4FED-9914-63F6BAE4DED2}"/>
              </a:ext>
            </a:extLst>
          </p:cNvPr>
          <p:cNvSpPr>
            <a:spLocks xmlns:a="http://schemas.openxmlformats.org/drawingml/2006/main" noGrp="1"/>
          </p:cNvSpPr>
          <p:nvPr/>
        </p:nvSpPr>
        <p:spPr>
          <a:xfrm xmlns:a="http://schemas.openxmlformats.org/drawingml/2006/main">
            <a:off x="3286125" y="381000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Validation macro F1</a:t>
            </a:r>
          </a:p>
        </p:txBody>
      </p:sp>
      <p:sp>
        <p:nvSpPr>
          <p:cNvPr id="19" name="">
            <a:extLst xmlns:a="http://schemas.openxmlformats.org/drawingml/2006/main">
              <a:ext uri="{FF2B5EF4-FFF2-40B4-BE49-F238E27FC236}">
                <a16:creationId xmlns:a16="http://schemas.microsoft.com/office/drawing/2014/main" id="{B70C33CC-5E35-45BD-ADF4-6B7E68841855}"/>
              </a:ext>
            </a:extLst>
          </p:cNvPr>
          <p:cNvSpPr>
            <a:spLocks xmlns:a="http://schemas.openxmlformats.org/drawingml/2006/main" noGrp="1"/>
          </p:cNvSpPr>
          <p:nvPr/>
        </p:nvSpPr>
        <p:spPr>
          <a:xfrm xmlns:a="http://schemas.openxmlformats.org/drawingml/2006/main">
            <a:off x="6191250" y="3667125"/>
            <a:ext cx="4762500" cy="704850"/>
          </a:xfrm>
          <a:prstGeom xmlns:a="http://schemas.openxmlformats.org/drawingml/2006/main" prst="roundRect">
            <a:avLst>
              <a:gd name="adj" fmla="val 10811"/>
            </a:avLst>
          </a:prstGeom>
          <a:solidFill xmlns:a="http://schemas.openxmlformats.org/drawingml/2006/main">
            <a:srgbClr val="EEF5F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798DB50-8F7B-451C-A490-30C560A5FF8D}"/>
              </a:ext>
            </a:extLst>
          </p:cNvPr>
          <p:cNvSpPr>
            <a:spLocks xmlns:a="http://schemas.openxmlformats.org/drawingml/2006/main" noGrp="1"/>
          </p:cNvSpPr>
          <p:nvPr/>
        </p:nvSpPr>
        <p:spPr>
          <a:xfrm xmlns:a="http://schemas.openxmlformats.org/drawingml/2006/main">
            <a:off x="6457950" y="3829050"/>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1">
                <a:solidFill>
                  <a:srgbClr val="5B6B7A"/>
                </a:solidFill>
                <a:latin typeface="Arial"/>
                <a:ea typeface="Arial"/>
                <a:cs typeface="Arial"/>
              </a:defRPr>
            </a:pPr>
            <a:r>
              <a:rPr sz="1425" b="1">
                <a:solidFill>
                  <a:srgbClr val="5B6B7A"/>
                </a:solidFill>
                <a:latin typeface="Arial"/>
                <a:ea typeface="Arial"/>
                <a:cs typeface="Arial"/>
              </a:rPr>
              <a:t>Regularization</a:t>
            </a:r>
          </a:p>
        </p:txBody>
      </p:sp>
      <p:sp>
        <p:nvSpPr>
          <p:cNvPr id="21" name="">
            <a:extLst xmlns:a="http://schemas.openxmlformats.org/drawingml/2006/main">
              <a:ext uri="{FF2B5EF4-FFF2-40B4-BE49-F238E27FC236}">
                <a16:creationId xmlns:a16="http://schemas.microsoft.com/office/drawing/2014/main" id="{03151E80-B1FD-4D64-9A91-B18A96AEA693}"/>
              </a:ext>
            </a:extLst>
          </p:cNvPr>
          <p:cNvSpPr>
            <a:spLocks xmlns:a="http://schemas.openxmlformats.org/drawingml/2006/main" noGrp="1"/>
          </p:cNvSpPr>
          <p:nvPr/>
        </p:nvSpPr>
        <p:spPr>
          <a:xfrm xmlns:a="http://schemas.openxmlformats.org/drawingml/2006/main">
            <a:off x="8524875" y="3810000"/>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2302"/>
          </a:bodyPr>
          <a:lstStyle xmlns:a="http://schemas.openxmlformats.org/drawingml/2006/main"/>
          <a:p xmlns:a="http://schemas.openxmlformats.org/drawingml/2006/main">
            <a:pPr algn="r">
              <a:defRPr sz="1650" b="1">
                <a:solidFill>
                  <a:srgbClr val="17324D"/>
                </a:solidFill>
                <a:latin typeface="Arial"/>
                <a:ea typeface="Arial"/>
                <a:cs typeface="Arial"/>
              </a:defRPr>
            </a:pPr>
            <a:r>
              <a:rPr sz="1650" b="1">
                <a:solidFill>
                  <a:srgbClr val="17324D"/>
                </a:solidFill>
                <a:latin typeface="Arial"/>
                <a:ea typeface="Arial"/>
                <a:cs typeface="Arial"/>
              </a:rPr>
              <a:t>Dropout and weight decay</a:t>
            </a:r>
          </a:p>
        </p:txBody>
      </p:sp>
      <p:sp>
        <p:nvSpPr>
          <p:cNvPr id="22" name="">
            <a:extLst xmlns:a="http://schemas.openxmlformats.org/drawingml/2006/main">
              <a:ext uri="{FF2B5EF4-FFF2-40B4-BE49-F238E27FC236}">
                <a16:creationId xmlns:a16="http://schemas.microsoft.com/office/drawing/2014/main" id="{D91C2D5D-6D91-40DD-8C33-EA964CD15C5C}"/>
              </a:ext>
            </a:extLst>
          </p:cNvPr>
          <p:cNvSpPr>
            <a:spLocks xmlns:a="http://schemas.openxmlformats.org/drawingml/2006/main" noGrp="1"/>
          </p:cNvSpPr>
          <p:nvPr/>
        </p:nvSpPr>
        <p:spPr>
          <a:xfrm xmlns:a="http://schemas.openxmlformats.org/drawingml/2006/main">
            <a:off x="952500" y="4905375"/>
            <a:ext cx="10001250" cy="933450"/>
          </a:xfrm>
          <a:prstGeom xmlns:a="http://schemas.openxmlformats.org/drawingml/2006/main" prst="roundRect">
            <a:avLst>
              <a:gd name="adj" fmla="val 8163"/>
            </a:avLst>
          </a:prstGeom>
          <a:solidFill xmlns:a="http://schemas.openxmlformats.org/drawingml/2006/main">
            <a:srgbClr val="FFF4E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878E98E-3DC7-4C45-BDE9-B49B31BEA5A4}"/>
              </a:ext>
            </a:extLst>
          </p:cNvPr>
          <p:cNvSpPr>
            <a:spLocks xmlns:a="http://schemas.openxmlformats.org/drawingml/2006/main" noGrp="1"/>
          </p:cNvSpPr>
          <p:nvPr/>
        </p:nvSpPr>
        <p:spPr>
          <a:xfrm xmlns:a="http://schemas.openxmlformats.org/drawingml/2006/main">
            <a:off x="1238250" y="5114925"/>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E9A23B"/>
                </a:solidFill>
                <a:latin typeface="Arial"/>
                <a:ea typeface="Arial"/>
                <a:cs typeface="Arial"/>
              </a:defRPr>
            </a:pPr>
            <a:r>
              <a:rPr sz="1650" b="1">
                <a:solidFill>
                  <a:srgbClr val="E9A23B"/>
                </a:solidFill>
                <a:latin typeface="Arial"/>
                <a:ea typeface="Arial"/>
                <a:cs typeface="Arial"/>
              </a:rPr>
              <a:t>Tuning note</a:t>
            </a:r>
          </a:p>
        </p:txBody>
      </p:sp>
      <p:sp>
        <p:nvSpPr>
          <p:cNvPr id="24" name="">
            <a:extLst xmlns:a="http://schemas.openxmlformats.org/drawingml/2006/main">
              <a:ext uri="{FF2B5EF4-FFF2-40B4-BE49-F238E27FC236}">
                <a16:creationId xmlns:a16="http://schemas.microsoft.com/office/drawing/2014/main" id="{05DE20FF-FEDE-4D5C-91D4-702546EF972E}"/>
              </a:ext>
            </a:extLst>
          </p:cNvPr>
          <p:cNvSpPr>
            <a:spLocks xmlns:a="http://schemas.openxmlformats.org/drawingml/2006/main" noGrp="1"/>
          </p:cNvSpPr>
          <p:nvPr/>
        </p:nvSpPr>
        <p:spPr>
          <a:xfrm xmlns:a="http://schemas.openxmlformats.org/drawingml/2006/main">
            <a:off x="3095625" y="50482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075"/>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The validation split guides model selection. The notebook does not include a separate grid-search table. A documented table of candidate learning rates and dropout values is a useful future improvement.</a:t>
            </a:r>
          </a:p>
        </p:txBody>
      </p:sp>
      <p:sp>
        <p:nvSpPr>
          <p:cNvPr id="25" name="">
            <a:extLst xmlns:a="http://schemas.openxmlformats.org/drawingml/2006/main">
              <a:ext uri="{FF2B5EF4-FFF2-40B4-BE49-F238E27FC236}">
                <a16:creationId xmlns:a16="http://schemas.microsoft.com/office/drawing/2014/main" id="{5A5447BE-1861-429A-A1B4-5BFC0C58A718}"/>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6</a:t>
            </a:r>
          </a:p>
        </p:txBody>
      </p:sp>
    </p:spTree>
    <p:extLst>
      <p:ext uri="{BB962C8B-B14F-4D97-AF65-F5344CB8AC3E}">
        <p14:creationId xmlns:p14="http://schemas.microsoft.com/office/powerpoint/2010/main" val="10014730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8AB44DB-1BD4-49A7-BDBE-AF8D8057D64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EE90E8-C17E-47D6-9515-3B22F28B30FA}"/>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Reproducible experiment workflow</a:t>
            </a:r>
          </a:p>
        </p:txBody>
      </p:sp>
      <p:sp>
        <p:nvSpPr>
          <p:cNvPr id="3" name="">
            <a:extLst xmlns:a="http://schemas.openxmlformats.org/drawingml/2006/main">
              <a:ext uri="{FF2B5EF4-FFF2-40B4-BE49-F238E27FC236}">
                <a16:creationId xmlns:a16="http://schemas.microsoft.com/office/drawing/2014/main" id="{87C6A01A-B351-4DCA-B3AF-D0B8EE2E34A5}"/>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The same split and protocol support a fair baseline comparison</a:t>
            </a:r>
          </a:p>
        </p:txBody>
      </p:sp>
      <p:sp>
        <p:nvSpPr>
          <p:cNvPr id="4" name="">
            <a:extLst xmlns:a="http://schemas.openxmlformats.org/drawingml/2006/main">
              <a:ext uri="{FF2B5EF4-FFF2-40B4-BE49-F238E27FC236}">
                <a16:creationId xmlns:a16="http://schemas.microsoft.com/office/drawing/2014/main" id="{E95ABBDC-062F-40AB-A2C0-004E9CB336F6}"/>
              </a:ext>
            </a:extLst>
          </p:cNvPr>
          <p:cNvSpPr>
            <a:spLocks xmlns:a="http://schemas.openxmlformats.org/drawingml/2006/main" noGrp="1"/>
          </p:cNvSpPr>
          <p:nvPr/>
        </p:nvSpPr>
        <p:spPr>
          <a:xfrm xmlns:a="http://schemas.openxmlformats.org/drawingml/2006/main">
            <a:off x="809625" y="2190750"/>
            <a:ext cx="1666875" cy="1619250"/>
          </a:xfrm>
          <a:prstGeom xmlns:a="http://schemas.openxmlformats.org/drawingml/2006/main" prst="roundRect">
            <a:avLst>
              <a:gd name="adj" fmla="val 4706"/>
            </a:avLst>
          </a:prstGeom>
          <a:solidFill xmlns:a="http://schemas.openxmlformats.org/drawingml/2006/main">
            <a:srgbClr val="EEF5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E24894F-8F36-4FE6-9779-006E009F7E3B}"/>
              </a:ext>
            </a:extLst>
          </p:cNvPr>
          <p:cNvSpPr>
            <a:spLocks xmlns:a="http://schemas.openxmlformats.org/drawingml/2006/main" noGrp="1"/>
          </p:cNvSpPr>
          <p:nvPr/>
        </p:nvSpPr>
        <p:spPr>
          <a:xfrm xmlns:a="http://schemas.openxmlformats.org/drawingml/2006/main">
            <a:off x="1381125" y="2333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2400" b="1">
                <a:solidFill>
                  <a:srgbClr val="2D72D9"/>
                </a:solidFill>
                <a:latin typeface="Arial"/>
                <a:ea typeface="Arial"/>
                <a:cs typeface="Arial"/>
              </a:defRPr>
            </a:pPr>
            <a:r>
              <a:rPr sz="2400" b="1">
                <a:solidFill>
                  <a:srgbClr val="2D72D9"/>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541A2971-6DC9-428C-B6E4-DE6EEB02AAF0}"/>
              </a:ext>
            </a:extLst>
          </p:cNvPr>
          <p:cNvSpPr>
            <a:spLocks xmlns:a="http://schemas.openxmlformats.org/drawingml/2006/main" noGrp="1"/>
          </p:cNvSpPr>
          <p:nvPr/>
        </p:nvSpPr>
        <p:spPr>
          <a:xfrm xmlns:a="http://schemas.openxmlformats.org/drawingml/2006/main">
            <a:off x="1000125" y="28575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Download</a:t>
            </a:r>
          </a:p>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TrashNet</a:t>
            </a:r>
          </a:p>
        </p:txBody>
      </p:sp>
      <p:sp>
        <p:nvSpPr>
          <p:cNvPr id="7" name="">
            <a:extLst xmlns:a="http://schemas.openxmlformats.org/drawingml/2006/main">
              <a:ext uri="{FF2B5EF4-FFF2-40B4-BE49-F238E27FC236}">
                <a16:creationId xmlns:a16="http://schemas.microsoft.com/office/drawing/2014/main" id="{1C445865-2BC2-4B54-A237-B65F0659CCEE}"/>
              </a:ext>
            </a:extLst>
          </p:cNvPr>
          <p:cNvSpPr>
            <a:spLocks xmlns:a="http://schemas.openxmlformats.org/drawingml/2006/main" noGrp="1"/>
          </p:cNvSpPr>
          <p:nvPr/>
        </p:nvSpPr>
        <p:spPr>
          <a:xfrm xmlns:a="http://schemas.openxmlformats.org/drawingml/2006/main">
            <a:off x="2952750" y="2190750"/>
            <a:ext cx="1666875" cy="1619250"/>
          </a:xfrm>
          <a:prstGeom xmlns:a="http://schemas.openxmlformats.org/drawingml/2006/main" prst="roundRect">
            <a:avLst>
              <a:gd name="adj" fmla="val 4706"/>
            </a:avLst>
          </a:prstGeom>
          <a:solidFill xmlns:a="http://schemas.openxmlformats.org/drawingml/2006/main">
            <a:srgbClr val="EEF5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14CD3A-4E67-4758-A3E2-A494772C37A9}"/>
              </a:ext>
            </a:extLst>
          </p:cNvPr>
          <p:cNvSpPr>
            <a:spLocks xmlns:a="http://schemas.openxmlformats.org/drawingml/2006/main" noGrp="1"/>
          </p:cNvSpPr>
          <p:nvPr/>
        </p:nvSpPr>
        <p:spPr>
          <a:xfrm xmlns:a="http://schemas.openxmlformats.org/drawingml/2006/main">
            <a:off x="3524250" y="2333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2400" b="1">
                <a:solidFill>
                  <a:srgbClr val="2D72D9"/>
                </a:solidFill>
                <a:latin typeface="Arial"/>
                <a:ea typeface="Arial"/>
                <a:cs typeface="Arial"/>
              </a:defRPr>
            </a:pPr>
            <a:r>
              <a:rPr sz="2400" b="1">
                <a:solidFill>
                  <a:srgbClr val="2D72D9"/>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C3C18A6A-CD88-48DA-ACD7-F6169D229567}"/>
              </a:ext>
            </a:extLst>
          </p:cNvPr>
          <p:cNvSpPr>
            <a:spLocks xmlns:a="http://schemas.openxmlformats.org/drawingml/2006/main" noGrp="1"/>
          </p:cNvSpPr>
          <p:nvPr/>
        </p:nvSpPr>
        <p:spPr>
          <a:xfrm xmlns:a="http://schemas.openxmlformats.org/drawingml/2006/main">
            <a:off x="3143250" y="28575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Split and</a:t>
            </a:r>
          </a:p>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preprocess</a:t>
            </a:r>
          </a:p>
        </p:txBody>
      </p:sp>
      <p:sp>
        <p:nvSpPr>
          <p:cNvPr id="10" name="">
            <a:extLst xmlns:a="http://schemas.openxmlformats.org/drawingml/2006/main">
              <a:ext uri="{FF2B5EF4-FFF2-40B4-BE49-F238E27FC236}">
                <a16:creationId xmlns:a16="http://schemas.microsoft.com/office/drawing/2014/main" id="{CE5D8B0B-23F2-4E19-9D8E-9B7A8B0A9254}"/>
              </a:ext>
            </a:extLst>
          </p:cNvPr>
          <p:cNvSpPr>
            <a:spLocks xmlns:a="http://schemas.openxmlformats.org/drawingml/2006/main" noGrp="1"/>
          </p:cNvSpPr>
          <p:nvPr/>
        </p:nvSpPr>
        <p:spPr>
          <a:xfrm xmlns:a="http://schemas.openxmlformats.org/drawingml/2006/main">
            <a:off x="5095875" y="2190750"/>
            <a:ext cx="1666875" cy="1619250"/>
          </a:xfrm>
          <a:prstGeom xmlns:a="http://schemas.openxmlformats.org/drawingml/2006/main" prst="roundRect">
            <a:avLst>
              <a:gd name="adj" fmla="val 4706"/>
            </a:avLst>
          </a:prstGeom>
          <a:solidFill xmlns:a="http://schemas.openxmlformats.org/drawingml/2006/main">
            <a:srgbClr val="EEF5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6D3B2B2-89BF-4F14-B906-B515BA42C6CA}"/>
              </a:ext>
            </a:extLst>
          </p:cNvPr>
          <p:cNvSpPr>
            <a:spLocks xmlns:a="http://schemas.openxmlformats.org/drawingml/2006/main" noGrp="1"/>
          </p:cNvSpPr>
          <p:nvPr/>
        </p:nvSpPr>
        <p:spPr>
          <a:xfrm xmlns:a="http://schemas.openxmlformats.org/drawingml/2006/main">
            <a:off x="5667375" y="2333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2400" b="1">
                <a:solidFill>
                  <a:srgbClr val="2D72D9"/>
                </a:solidFill>
                <a:latin typeface="Arial"/>
                <a:ea typeface="Arial"/>
                <a:cs typeface="Arial"/>
              </a:defRPr>
            </a:pPr>
            <a:r>
              <a:rPr sz="2400" b="1">
                <a:solidFill>
                  <a:srgbClr val="2D72D9"/>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82462CB7-831A-4F69-BAA7-0D593996492D}"/>
              </a:ext>
            </a:extLst>
          </p:cNvPr>
          <p:cNvSpPr>
            <a:spLocks xmlns:a="http://schemas.openxmlformats.org/drawingml/2006/main" noGrp="1"/>
          </p:cNvSpPr>
          <p:nvPr/>
        </p:nvSpPr>
        <p:spPr>
          <a:xfrm xmlns:a="http://schemas.openxmlformats.org/drawingml/2006/main">
            <a:off x="5286375" y="28575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Train</a:t>
            </a:r>
          </a:p>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baseline</a:t>
            </a:r>
          </a:p>
        </p:txBody>
      </p:sp>
      <p:sp>
        <p:nvSpPr>
          <p:cNvPr id="13" name="">
            <a:extLst xmlns:a="http://schemas.openxmlformats.org/drawingml/2006/main">
              <a:ext uri="{FF2B5EF4-FFF2-40B4-BE49-F238E27FC236}">
                <a16:creationId xmlns:a16="http://schemas.microsoft.com/office/drawing/2014/main" id="{2EB91CC7-C291-4062-BE58-C9271B6CFDF4}"/>
              </a:ext>
            </a:extLst>
          </p:cNvPr>
          <p:cNvSpPr>
            <a:spLocks xmlns:a="http://schemas.openxmlformats.org/drawingml/2006/main" noGrp="1"/>
          </p:cNvSpPr>
          <p:nvPr/>
        </p:nvSpPr>
        <p:spPr>
          <a:xfrm xmlns:a="http://schemas.openxmlformats.org/drawingml/2006/main">
            <a:off x="7239000" y="2190750"/>
            <a:ext cx="1666875" cy="1619250"/>
          </a:xfrm>
          <a:prstGeom xmlns:a="http://schemas.openxmlformats.org/drawingml/2006/main" prst="roundRect">
            <a:avLst>
              <a:gd name="adj" fmla="val 4706"/>
            </a:avLst>
          </a:prstGeom>
          <a:solidFill xmlns:a="http://schemas.openxmlformats.org/drawingml/2006/main">
            <a:srgbClr val="E7F7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7A380B-A008-4D8A-AB2D-AAE18C0333BE}"/>
              </a:ext>
            </a:extLst>
          </p:cNvPr>
          <p:cNvSpPr>
            <a:spLocks xmlns:a="http://schemas.openxmlformats.org/drawingml/2006/main" noGrp="1"/>
          </p:cNvSpPr>
          <p:nvPr/>
        </p:nvSpPr>
        <p:spPr>
          <a:xfrm xmlns:a="http://schemas.openxmlformats.org/drawingml/2006/main">
            <a:off x="7810500" y="2333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2400" b="1">
                <a:solidFill>
                  <a:srgbClr val="087E8B"/>
                </a:solidFill>
                <a:latin typeface="Arial"/>
                <a:ea typeface="Arial"/>
                <a:cs typeface="Arial"/>
              </a:defRPr>
            </a:pPr>
            <a:r>
              <a:rPr sz="2400" b="1">
                <a:solidFill>
                  <a:srgbClr val="087E8B"/>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92F20E03-83BA-4378-AA32-20F085B3FA6F}"/>
              </a:ext>
            </a:extLst>
          </p:cNvPr>
          <p:cNvSpPr>
            <a:spLocks xmlns:a="http://schemas.openxmlformats.org/drawingml/2006/main" noGrp="1"/>
          </p:cNvSpPr>
          <p:nvPr/>
        </p:nvSpPr>
        <p:spPr>
          <a:xfrm xmlns:a="http://schemas.openxmlformats.org/drawingml/2006/main">
            <a:off x="7429500" y="28575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17324D"/>
                </a:solidFill>
                <a:latin typeface="Arial"/>
                <a:ea typeface="Arial"/>
                <a:cs typeface="Arial"/>
              </a:defRPr>
            </a:pPr>
            <a:r>
              <a:rPr sz="1275" b="1">
                <a:solidFill>
                  <a:srgbClr val="17324D"/>
                </a:solidFill>
                <a:latin typeface="Arial"/>
                <a:ea typeface="Arial"/>
                <a:cs typeface="Arial"/>
              </a:rPr>
              <a:t>Train</a:t>
            </a:r>
          </a:p>
          <a:p xmlns:a="http://schemas.openxmlformats.org/drawingml/2006/main">
            <a:pPr algn="ctr">
              <a:defRPr sz="1275" b="1">
                <a:solidFill>
                  <a:srgbClr val="17324D"/>
                </a:solidFill>
                <a:latin typeface="Arial"/>
                <a:ea typeface="Arial"/>
                <a:cs typeface="Arial"/>
              </a:defRPr>
            </a:pPr>
            <a:r>
              <a:rPr sz="1275" b="1">
                <a:solidFill>
                  <a:srgbClr val="17324D"/>
                </a:solidFill>
                <a:latin typeface="Arial"/>
                <a:ea typeface="Arial"/>
                <a:cs typeface="Arial"/>
              </a:rPr>
              <a:t>custom model</a:t>
            </a:r>
          </a:p>
        </p:txBody>
      </p:sp>
      <p:sp>
        <p:nvSpPr>
          <p:cNvPr id="16" name="">
            <a:extLst xmlns:a="http://schemas.openxmlformats.org/drawingml/2006/main">
              <a:ext uri="{FF2B5EF4-FFF2-40B4-BE49-F238E27FC236}">
                <a16:creationId xmlns:a16="http://schemas.microsoft.com/office/drawing/2014/main" id="{3C303E46-94C2-4342-9E07-0A1676EF75F1}"/>
              </a:ext>
            </a:extLst>
          </p:cNvPr>
          <p:cNvSpPr>
            <a:spLocks xmlns:a="http://schemas.openxmlformats.org/drawingml/2006/main" noGrp="1"/>
          </p:cNvSpPr>
          <p:nvPr/>
        </p:nvSpPr>
        <p:spPr>
          <a:xfrm xmlns:a="http://schemas.openxmlformats.org/drawingml/2006/main">
            <a:off x="9382125" y="2190750"/>
            <a:ext cx="1666875" cy="1619250"/>
          </a:xfrm>
          <a:prstGeom xmlns:a="http://schemas.openxmlformats.org/drawingml/2006/main" prst="roundRect">
            <a:avLst>
              <a:gd name="adj" fmla="val 4706"/>
            </a:avLst>
          </a:prstGeom>
          <a:solidFill xmlns:a="http://schemas.openxmlformats.org/drawingml/2006/main">
            <a:srgbClr val="EEF5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159C14-E7A2-4CC4-907A-F10A25B6A089}"/>
              </a:ext>
            </a:extLst>
          </p:cNvPr>
          <p:cNvSpPr>
            <a:spLocks xmlns:a="http://schemas.openxmlformats.org/drawingml/2006/main" noGrp="1"/>
          </p:cNvSpPr>
          <p:nvPr/>
        </p:nvSpPr>
        <p:spPr>
          <a:xfrm xmlns:a="http://schemas.openxmlformats.org/drawingml/2006/main">
            <a:off x="9953625" y="23336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8958"/>
          </a:bodyPr>
          <a:lstStyle xmlns:a="http://schemas.openxmlformats.org/drawingml/2006/main"/>
          <a:p xmlns:a="http://schemas.openxmlformats.org/drawingml/2006/main">
            <a:pPr algn="ctr">
              <a:defRPr sz="2400" b="1">
                <a:solidFill>
                  <a:srgbClr val="2D72D9"/>
                </a:solidFill>
                <a:latin typeface="Arial"/>
                <a:ea typeface="Arial"/>
                <a:cs typeface="Arial"/>
              </a:defRPr>
            </a:pPr>
            <a:r>
              <a:rPr sz="2400" b="1">
                <a:solidFill>
                  <a:srgbClr val="2D72D9"/>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3AEE31A1-543A-43A4-87AB-9CEFFB42FD2A}"/>
              </a:ext>
            </a:extLst>
          </p:cNvPr>
          <p:cNvSpPr>
            <a:spLocks xmlns:a="http://schemas.openxmlformats.org/drawingml/2006/main" noGrp="1"/>
          </p:cNvSpPr>
          <p:nvPr/>
        </p:nvSpPr>
        <p:spPr>
          <a:xfrm xmlns:a="http://schemas.openxmlformats.org/drawingml/2006/main">
            <a:off x="9572625" y="2857500"/>
            <a:ext cx="1285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Evaluate</a:t>
            </a:r>
          </a:p>
          <a:p xmlns:a="http://schemas.openxmlformats.org/drawingml/2006/main">
            <a:pPr algn="ctr">
              <a:defRPr sz="1650" b="1">
                <a:solidFill>
                  <a:srgbClr val="17324D"/>
                </a:solidFill>
                <a:latin typeface="Arial"/>
                <a:ea typeface="Arial"/>
                <a:cs typeface="Arial"/>
              </a:defRPr>
            </a:pPr>
            <a:r>
              <a:rPr sz="1650" b="1">
                <a:solidFill>
                  <a:srgbClr val="17324D"/>
                </a:solidFill>
                <a:latin typeface="Arial"/>
                <a:ea typeface="Arial"/>
                <a:cs typeface="Arial"/>
              </a:rPr>
              <a:t>held-out test</a:t>
            </a:r>
          </a:p>
        </p:txBody>
      </p:sp>
      <p:sp>
        <p:nvSpPr>
          <p:cNvPr id="19" name="">
            <a:extLst xmlns:a="http://schemas.openxmlformats.org/drawingml/2006/main">
              <a:ext uri="{FF2B5EF4-FFF2-40B4-BE49-F238E27FC236}">
                <a16:creationId xmlns:a16="http://schemas.microsoft.com/office/drawing/2014/main" id="{F6656A58-6C94-491F-B1AA-82C676B41FE0}"/>
              </a:ext>
            </a:extLst>
          </p:cNvPr>
          <p:cNvSpPr>
            <a:spLocks xmlns:a="http://schemas.openxmlformats.org/drawingml/2006/main" noGrp="1"/>
          </p:cNvSpPr>
          <p:nvPr/>
        </p:nvSpPr>
        <p:spPr>
          <a:xfrm xmlns:a="http://schemas.openxmlformats.org/drawingml/2006/main">
            <a:off x="1143000" y="4857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8080"/>
          </a:bodyPr>
          <a:lstStyle xmlns:a="http://schemas.openxmlformats.org/drawingml/2006/main"/>
          <a:p xmlns:a="http://schemas.openxmlformats.org/drawingml/2006/main">
            <a:pPr algn="ctr">
              <a:defRPr sz="1725" b="1">
                <a:solidFill>
                  <a:srgbClr val="092B3D"/>
                </a:solidFill>
                <a:latin typeface="Arial"/>
                <a:ea typeface="Arial"/>
                <a:cs typeface="Arial"/>
              </a:defRPr>
            </a:pPr>
            <a:r>
              <a:rPr sz="1725" b="1">
                <a:solidFill>
                  <a:srgbClr val="092B3D"/>
                </a:solidFill>
                <a:latin typeface="Arial"/>
                <a:ea typeface="Arial"/>
                <a:cs typeface="Arial"/>
              </a:rPr>
              <a:t>Outputs: learning curves, confusion matrices, classification report, checkpoints, and final comparison table</a:t>
            </a:r>
          </a:p>
        </p:txBody>
      </p:sp>
      <p:sp>
        <p:nvSpPr>
          <p:cNvPr id="20" name="">
            <a:extLst xmlns:a="http://schemas.openxmlformats.org/drawingml/2006/main">
              <a:ext uri="{FF2B5EF4-FFF2-40B4-BE49-F238E27FC236}">
                <a16:creationId xmlns:a16="http://schemas.microsoft.com/office/drawing/2014/main" id="{7C6C9A86-72B5-4C6F-85BA-3CF1FCC1EE49}"/>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7</a:t>
            </a:r>
          </a:p>
        </p:txBody>
      </p:sp>
    </p:spTree>
    <p:extLst>
      <p:ext uri="{BB962C8B-B14F-4D97-AF65-F5344CB8AC3E}">
        <p14:creationId xmlns:p14="http://schemas.microsoft.com/office/powerpoint/2010/main" val="3436290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A12CB0-D997-4E0B-94EA-580A01296D8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F89D23-C220-4B46-8A0C-7EBF8D2758CF}"/>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Final held-out test results</a:t>
            </a:r>
          </a:p>
        </p:txBody>
      </p:sp>
      <p:sp>
        <p:nvSpPr>
          <p:cNvPr id="3" name="">
            <a:extLst xmlns:a="http://schemas.openxmlformats.org/drawingml/2006/main">
              <a:ext uri="{FF2B5EF4-FFF2-40B4-BE49-F238E27FC236}">
                <a16:creationId xmlns:a16="http://schemas.microsoft.com/office/drawing/2014/main" id="{81368A4C-F58D-4F7E-812F-CFFCCB8781EB}"/>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MaterialFocusNet achieves the stronger macro F1-score</a:t>
            </a:r>
          </a:p>
        </p:txBody>
      </p:sp>
      <p:graphicFrame>
        <p:nvGraphicFramePr>
          <p:cNvPr id="12" name="Chart"/>
          <p:cNvGraphicFramePr/>
          <p:nvPr/>
        </p:nvGraphicFramePr>
        <p:xfrm>
          <a:off xmlns:a="http://schemas.openxmlformats.org/drawingml/2006/main" x="876300" y="1666875"/>
          <a:ext xmlns:a="http://schemas.openxmlformats.org/drawingml/2006/main" cx="5619750" cy="3333750"/>
        </p:xfrm>
        <a:graphic xmlns:a="http://schemas.openxmlformats.org/drawingml/2006/main">
          <a:graphicData uri="http://schemas.openxmlformats.org/drawingml/2006/chart">
            <c:chart xmlns:r="http://schemas.openxmlformats.org/officeDocument/2006/relationships" xmlns:c="http://schemas.openxmlformats.org/drawingml/2006/chart" r:id="Rea5578f788434c49"/>
          </a:graphicData>
        </a:graphic>
      </p:graphicFrame>
      <p:graphicFrame>
        <p:nvGraphicFramePr>
          <p:cNvPr id="13" name=""/>
          <p:cNvGraphicFramePr/>
          <p:nvPr/>
        </p:nvGraphicFramePr>
        <p:xfrm>
          <a:off xmlns:a="http://schemas.openxmlformats.org/drawingml/2006/main" x="7239000" y="2000250"/>
          <a:ext xmlns:a="http://schemas.openxmlformats.org/drawingml/2006/main" cx="3429000" cy="1952625"/>
        </p:xfrm>
        <a:graphic xmlns:a="http://schemas.openxmlformats.org/drawingml/2006/main">
          <a:graphicData uri="http://schemas.openxmlformats.org/drawingml/2006/table">
            <a:tbl>
              <a:tblPr firstRow="1" bandRow="1"/>
              <a:tblGrid>
                <a:gridCol w="1143000"/>
                <a:gridCol w="1143000"/>
                <a:gridCol w="1143000"/>
              </a:tblGrid>
              <a:tr h="650875">
                <a:tc>
                  <a:txBody>
                    <a:bodyPr/>
                    <a:lstStyle/>
                    <a:p>
                      <a:r>
                        <a:rPr sz="1125" b="1">
                          <a:solidFill>
                            <a:srgbClr val="FFFFFF"/>
                          </a:solidFill>
                          <a:latin typeface="Arial"/>
                          <a:ea typeface="Arial"/>
                          <a:cs typeface="Arial"/>
                        </a:rPr>
                        <a:t>Model</a:t>
                      </a:r>
                    </a:p>
                  </a:txBody>
                  <a:tcPr marL="91440" marR="91440" marT="45720" marB="45720">
                    <a:solidFill>
                      <a:srgbClr val="092B3D"/>
                    </a:solidFill>
                  </a:tcPr>
                </a:tc>
                <a:tc>
                  <a:txBody>
                    <a:bodyPr/>
                    <a:lstStyle/>
                    <a:p>
                      <a:r>
                        <a:rPr sz="1125" b="1">
                          <a:solidFill>
                            <a:srgbClr val="FFFFFF"/>
                          </a:solidFill>
                          <a:latin typeface="Arial"/>
                          <a:ea typeface="Arial"/>
                          <a:cs typeface="Arial"/>
                        </a:rPr>
                        <a:t>Accuracy</a:t>
                      </a:r>
                    </a:p>
                  </a:txBody>
                  <a:tcPr marL="91440" marR="91440" marT="45720" marB="45720">
                    <a:solidFill>
                      <a:srgbClr val="092B3D"/>
                    </a:solidFill>
                  </a:tcPr>
                </a:tc>
                <a:tc>
                  <a:txBody>
                    <a:bodyPr/>
                    <a:lstStyle/>
                    <a:p>
                      <a:r>
                        <a:rPr sz="1125" b="1">
                          <a:solidFill>
                            <a:srgbClr val="FFFFFF"/>
                          </a:solidFill>
                          <a:latin typeface="Arial"/>
                          <a:ea typeface="Arial"/>
                          <a:cs typeface="Arial"/>
                        </a:rPr>
                        <a:t>Macro F1</a:t>
                      </a:r>
                    </a:p>
                  </a:txBody>
                  <a:tcPr marL="91440" marR="91440" marT="45720" marB="45720">
                    <a:solidFill>
                      <a:srgbClr val="092B3D"/>
                    </a:solidFill>
                  </a:tcPr>
                </a:tc>
              </a:tr>
              <a:tr h="650875">
                <a:tc>
                  <a:txBody>
                    <a:bodyPr/>
                    <a:lstStyle/>
                    <a:p>
                      <a:r>
                        <a:rPr sz="1125" b="0">
                          <a:solidFill>
                            <a:srgbClr val="17324D"/>
                          </a:solidFill>
                          <a:latin typeface="Arial"/>
                          <a:ea typeface="Arial"/>
                          <a:cs typeface="Arial"/>
                        </a:rPr>
                        <a:t>Baseline CNN</a:t>
                      </a:r>
                    </a:p>
                  </a:txBody>
                  <a:tcPr marL="91440" marR="91440" marT="45720" marB="45720"/>
                </a:tc>
                <a:tc>
                  <a:txBody>
                    <a:bodyPr/>
                    <a:lstStyle/>
                    <a:p>
                      <a:r>
                        <a:rPr sz="1125" b="0">
                          <a:solidFill>
                            <a:srgbClr val="17324D"/>
                          </a:solidFill>
                          <a:latin typeface="Arial"/>
                          <a:ea typeface="Arial"/>
                          <a:cs typeface="Arial"/>
                        </a:rPr>
                        <a:t>69.74%</a:t>
                      </a:r>
                    </a:p>
                  </a:txBody>
                  <a:tcPr marL="91440" marR="91440" marT="45720" marB="45720"/>
                </a:tc>
                <a:tc>
                  <a:txBody>
                    <a:bodyPr/>
                    <a:lstStyle/>
                    <a:p>
                      <a:r>
                        <a:rPr sz="1125" b="0">
                          <a:solidFill>
                            <a:srgbClr val="17324D"/>
                          </a:solidFill>
                          <a:latin typeface="Arial"/>
                          <a:ea typeface="Arial"/>
                          <a:cs typeface="Arial"/>
                        </a:rPr>
                        <a:t>69.02%</a:t>
                      </a:r>
                    </a:p>
                  </a:txBody>
                  <a:tcPr marL="91440" marR="91440" marT="45720" marB="45720"/>
                </a:tc>
              </a:tr>
              <a:tr h="650875">
                <a:tc>
                  <a:txBody>
                    <a:bodyPr/>
                    <a:lstStyle/>
                    <a:p>
                      <a:r>
                        <a:rPr sz="1125" b="1">
                          <a:solidFill>
                            <a:srgbClr val="17324D"/>
                          </a:solidFill>
                          <a:latin typeface="Arial"/>
                          <a:ea typeface="Arial"/>
                          <a:cs typeface="Arial"/>
                        </a:rPr>
                        <a:t>MaterialFocusNet</a:t>
                      </a:r>
                    </a:p>
                  </a:txBody>
                  <a:tcPr marL="91440" marR="91440" marT="45720" marB="45720">
                    <a:solidFill>
                      <a:srgbClr val="E7F7F7"/>
                    </a:solidFill>
                  </a:tcPr>
                </a:tc>
                <a:tc>
                  <a:txBody>
                    <a:bodyPr/>
                    <a:lstStyle/>
                    <a:p>
                      <a:r>
                        <a:rPr sz="1125" b="1">
                          <a:solidFill>
                            <a:srgbClr val="17324D"/>
                          </a:solidFill>
                          <a:latin typeface="Arial"/>
                          <a:ea typeface="Arial"/>
                          <a:cs typeface="Arial"/>
                        </a:rPr>
                        <a:t>72.63%</a:t>
                      </a:r>
                    </a:p>
                  </a:txBody>
                  <a:tcPr marL="91440" marR="91440" marT="45720" marB="45720">
                    <a:solidFill>
                      <a:srgbClr val="E7F7F7"/>
                    </a:solidFill>
                  </a:tcPr>
                </a:tc>
                <a:tc>
                  <a:txBody>
                    <a:bodyPr/>
                    <a:lstStyle/>
                    <a:p>
                      <a:r>
                        <a:rPr sz="1125" b="1">
                          <a:solidFill>
                            <a:srgbClr val="17324D"/>
                          </a:solidFill>
                          <a:latin typeface="Arial"/>
                          <a:ea typeface="Arial"/>
                          <a:cs typeface="Arial"/>
                        </a:rPr>
                        <a:t>71.43%</a:t>
                      </a:r>
                    </a:p>
                  </a:txBody>
                  <a:tcPr marL="91440" marR="91440" marT="45720" marB="45720">
                    <a:solidFill>
                      <a:srgbClr val="E7F7F7"/>
                    </a:solidFill>
                  </a:tcPr>
                </a:tc>
              </a:tr>
            </a:tbl>
          </a:graphicData>
        </a:graphic>
      </p:graphicFrame>
      <p:sp>
        <p:nvSpPr>
          <p:cNvPr id="6" name="">
            <a:extLst xmlns:a="http://schemas.openxmlformats.org/drawingml/2006/main">
              <a:ext uri="{FF2B5EF4-FFF2-40B4-BE49-F238E27FC236}">
                <a16:creationId xmlns:a16="http://schemas.microsoft.com/office/drawing/2014/main" id="{5406A554-CDDD-4BE2-B7B3-8A37F79F1A60}"/>
              </a:ext>
            </a:extLst>
          </p:cNvPr>
          <p:cNvSpPr>
            <a:spLocks xmlns:a="http://schemas.openxmlformats.org/drawingml/2006/main" noGrp="1"/>
          </p:cNvSpPr>
          <p:nvPr/>
        </p:nvSpPr>
        <p:spPr>
          <a:xfrm xmlns:a="http://schemas.openxmlformats.org/drawingml/2006/main">
            <a:off x="7096125" y="44767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6533"/>
          </a:bodyPr>
          <a:lstStyle xmlns:a="http://schemas.openxmlformats.org/drawingml/2006/main"/>
          <a:p xmlns:a="http://schemas.openxmlformats.org/drawingml/2006/main">
            <a:pPr algn="ctr">
              <a:defRPr sz="1950" b="1">
                <a:solidFill>
                  <a:srgbClr val="087E8B"/>
                </a:solidFill>
                <a:latin typeface="Arial"/>
                <a:ea typeface="Arial"/>
                <a:cs typeface="Arial"/>
              </a:defRPr>
            </a:pPr>
            <a:r>
              <a:rPr sz="1950" b="1">
                <a:solidFill>
                  <a:srgbClr val="087E8B"/>
                </a:solidFill>
                <a:latin typeface="Arial"/>
                <a:ea typeface="Arial"/>
                <a:cs typeface="Arial"/>
              </a:rPr>
              <a:t>+2.41 percentage points in macro F1</a:t>
            </a:r>
          </a:p>
        </p:txBody>
      </p:sp>
      <p:sp>
        <p:nvSpPr>
          <p:cNvPr id="7" name="">
            <a:extLst xmlns:a="http://schemas.openxmlformats.org/drawingml/2006/main">
              <a:ext uri="{FF2B5EF4-FFF2-40B4-BE49-F238E27FC236}">
                <a16:creationId xmlns:a16="http://schemas.microsoft.com/office/drawing/2014/main" id="{761BF766-6DF6-45C3-A44A-4237C935D4CA}"/>
              </a:ext>
            </a:extLst>
          </p:cNvPr>
          <p:cNvSpPr>
            <a:spLocks xmlns:a="http://schemas.openxmlformats.org/drawingml/2006/main" noGrp="1"/>
          </p:cNvSpPr>
          <p:nvPr/>
        </p:nvSpPr>
        <p:spPr>
          <a:xfrm xmlns:a="http://schemas.openxmlformats.org/drawingml/2006/main">
            <a:off x="7096125" y="50482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17324D"/>
                </a:solidFill>
                <a:latin typeface="Arial"/>
                <a:ea typeface="Arial"/>
                <a:cs typeface="Arial"/>
              </a:defRPr>
            </a:pPr>
            <a:r>
              <a:rPr sz="1425" b="0">
                <a:solidFill>
                  <a:srgbClr val="17324D"/>
                </a:solidFill>
                <a:latin typeface="Arial"/>
                <a:ea typeface="Arial"/>
                <a:cs typeface="Arial"/>
              </a:rPr>
              <a:t>Accuracy, precision, recall, and F1 all improve for the custom model.</a:t>
            </a:r>
          </a:p>
        </p:txBody>
      </p:sp>
      <p:sp>
        <p:nvSpPr>
          <p:cNvPr id="8" name="">
            <a:extLst xmlns:a="http://schemas.openxmlformats.org/drawingml/2006/main">
              <a:ext uri="{FF2B5EF4-FFF2-40B4-BE49-F238E27FC236}">
                <a16:creationId xmlns:a16="http://schemas.microsoft.com/office/drawing/2014/main" id="{CFC35A61-B386-4D23-89D4-809B7926C4A8}"/>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8</a:t>
            </a:r>
          </a:p>
        </p:txBody>
      </p:sp>
    </p:spTree>
    <p:extLst>
      <p:ext uri="{BB962C8B-B14F-4D97-AF65-F5344CB8AC3E}">
        <p14:creationId xmlns:p14="http://schemas.microsoft.com/office/powerpoint/2010/main" val="1965340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017D5C8-E6A1-46EE-97DB-E67E97BAC0C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C60DC2-57D9-4776-9C68-7C6E2B768181}"/>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Class-level performance</a:t>
            </a:r>
          </a:p>
        </p:txBody>
      </p:sp>
      <p:sp>
        <p:nvSpPr>
          <p:cNvPr id="3" name="">
            <a:extLst xmlns:a="http://schemas.openxmlformats.org/drawingml/2006/main">
              <a:ext uri="{FF2B5EF4-FFF2-40B4-BE49-F238E27FC236}">
                <a16:creationId xmlns:a16="http://schemas.microsoft.com/office/drawing/2014/main" id="{BA36ED1D-6F78-444E-ABFF-3E1FC70692C8}"/>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The model performs best on cardboard and paper</a:t>
            </a:r>
          </a:p>
        </p:txBody>
      </p:sp>
      <p:sp>
        <p:nvSpPr>
          <p:cNvPr id="4" name="">
            <a:extLst xmlns:a="http://schemas.openxmlformats.org/drawingml/2006/main">
              <a:ext uri="{FF2B5EF4-FFF2-40B4-BE49-F238E27FC236}">
                <a16:creationId xmlns:a16="http://schemas.microsoft.com/office/drawing/2014/main" id="{361C2103-61D2-4DAA-B621-A997AA9089F5}"/>
              </a:ext>
            </a:extLst>
          </p:cNvPr>
          <p:cNvSpPr>
            <a:spLocks xmlns:a="http://schemas.openxmlformats.org/drawingml/2006/main" noGrp="1"/>
          </p:cNvSpPr>
          <p:nvPr/>
        </p:nvSpPr>
        <p:spPr>
          <a:xfrm xmlns:a="http://schemas.openxmlformats.org/drawingml/2006/main">
            <a:off x="1524000" y="1714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087E8B"/>
                </a:solidFill>
                <a:latin typeface="Arial"/>
                <a:ea typeface="Arial"/>
                <a:cs typeface="Arial"/>
              </a:defRPr>
            </a:pPr>
            <a:r>
              <a:rPr sz="1650" b="1">
                <a:solidFill>
                  <a:srgbClr val="087E8B"/>
                </a:solidFill>
                <a:latin typeface="Arial"/>
                <a:ea typeface="Arial"/>
                <a:cs typeface="Arial"/>
              </a:rPr>
              <a:t>Class</a:t>
            </a:r>
          </a:p>
        </p:txBody>
      </p:sp>
      <p:sp>
        <p:nvSpPr>
          <p:cNvPr id="5" name="">
            <a:extLst xmlns:a="http://schemas.openxmlformats.org/drawingml/2006/main">
              <a:ext uri="{FF2B5EF4-FFF2-40B4-BE49-F238E27FC236}">
                <a16:creationId xmlns:a16="http://schemas.microsoft.com/office/drawing/2014/main" id="{4D5748B6-B2E0-45EE-BEC7-9F68E41D9AB5}"/>
              </a:ext>
            </a:extLst>
          </p:cNvPr>
          <p:cNvSpPr>
            <a:spLocks xmlns:a="http://schemas.openxmlformats.org/drawingml/2006/main" noGrp="1"/>
          </p:cNvSpPr>
          <p:nvPr/>
        </p:nvSpPr>
        <p:spPr>
          <a:xfrm xmlns:a="http://schemas.openxmlformats.org/drawingml/2006/main">
            <a:off x="5619750" y="171450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650" b="1">
                <a:solidFill>
                  <a:srgbClr val="087E8B"/>
                </a:solidFill>
                <a:latin typeface="Arial"/>
                <a:ea typeface="Arial"/>
                <a:cs typeface="Arial"/>
              </a:defRPr>
            </a:pPr>
            <a:r>
              <a:rPr sz="1650" b="1">
                <a:solidFill>
                  <a:srgbClr val="087E8B"/>
                </a:solidFill>
                <a:latin typeface="Arial"/>
                <a:ea typeface="Arial"/>
                <a:cs typeface="Arial"/>
              </a:rPr>
              <a:t>F1-score</a:t>
            </a:r>
          </a:p>
        </p:txBody>
      </p:sp>
      <p:sp>
        <p:nvSpPr>
          <p:cNvPr id="6" name="">
            <a:extLst xmlns:a="http://schemas.openxmlformats.org/drawingml/2006/main">
              <a:ext uri="{FF2B5EF4-FFF2-40B4-BE49-F238E27FC236}">
                <a16:creationId xmlns:a16="http://schemas.microsoft.com/office/drawing/2014/main" id="{7519E835-E72B-47BE-AAAC-F9C6D382B4DB}"/>
              </a:ext>
            </a:extLst>
          </p:cNvPr>
          <p:cNvSpPr>
            <a:spLocks xmlns:a="http://schemas.openxmlformats.org/drawingml/2006/main" noGrp="1"/>
          </p:cNvSpPr>
          <p:nvPr/>
        </p:nvSpPr>
        <p:spPr>
          <a:xfrm xmlns:a="http://schemas.openxmlformats.org/drawingml/2006/main">
            <a:off x="1381125" y="2105025"/>
            <a:ext cx="5953125" cy="400050"/>
          </a:xfrm>
          <a:prstGeom xmlns:a="http://schemas.openxmlformats.org/drawingml/2006/main" prst="roundRect">
            <a:avLst>
              <a:gd name="adj" fmla="val 19048"/>
            </a:avLst>
          </a:prstGeom>
          <a:solidFill xmlns:a="http://schemas.openxmlformats.org/drawingml/2006/main">
            <a:srgbClr val="E7F7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D73DE2B-3E44-4E8A-8D87-3B820C343B72}"/>
              </a:ext>
            </a:extLst>
          </p:cNvPr>
          <p:cNvSpPr>
            <a:spLocks xmlns:a="http://schemas.openxmlformats.org/drawingml/2006/main" noGrp="1"/>
          </p:cNvSpPr>
          <p:nvPr/>
        </p:nvSpPr>
        <p:spPr>
          <a:xfrm xmlns:a="http://schemas.openxmlformats.org/drawingml/2006/main">
            <a:off x="1619250" y="21431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Cardboard</a:t>
            </a:r>
          </a:p>
        </p:txBody>
      </p:sp>
      <p:sp>
        <p:nvSpPr>
          <p:cNvPr id="8" name="">
            <a:extLst xmlns:a="http://schemas.openxmlformats.org/drawingml/2006/main">
              <a:ext uri="{FF2B5EF4-FFF2-40B4-BE49-F238E27FC236}">
                <a16:creationId xmlns:a16="http://schemas.microsoft.com/office/drawing/2014/main" id="{F71F702A-9F6B-46E5-B6E9-BE74388D554F}"/>
              </a:ext>
            </a:extLst>
          </p:cNvPr>
          <p:cNvSpPr>
            <a:spLocks xmlns:a="http://schemas.openxmlformats.org/drawingml/2006/main" noGrp="1"/>
          </p:cNvSpPr>
          <p:nvPr/>
        </p:nvSpPr>
        <p:spPr>
          <a:xfrm xmlns:a="http://schemas.openxmlformats.org/drawingml/2006/main">
            <a:off x="5619750" y="2143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1">
                <a:solidFill>
                  <a:srgbClr val="17324D"/>
                </a:solidFill>
                <a:latin typeface="Arial"/>
                <a:ea typeface="Arial"/>
                <a:cs typeface="Arial"/>
              </a:defRPr>
            </a:pPr>
            <a:r>
              <a:rPr sz="1575" b="1">
                <a:solidFill>
                  <a:srgbClr val="17324D"/>
                </a:solidFill>
                <a:latin typeface="Arial"/>
                <a:ea typeface="Arial"/>
                <a:cs typeface="Arial"/>
              </a:rPr>
              <a:t>0.864</a:t>
            </a:r>
          </a:p>
        </p:txBody>
      </p:sp>
      <p:sp>
        <p:nvSpPr>
          <p:cNvPr id="9" name="">
            <a:extLst xmlns:a="http://schemas.openxmlformats.org/drawingml/2006/main">
              <a:ext uri="{FF2B5EF4-FFF2-40B4-BE49-F238E27FC236}">
                <a16:creationId xmlns:a16="http://schemas.microsoft.com/office/drawing/2014/main" id="{E7611122-E7E6-46D4-B119-5CBE16682430}"/>
              </a:ext>
            </a:extLst>
          </p:cNvPr>
          <p:cNvSpPr>
            <a:spLocks xmlns:a="http://schemas.openxmlformats.org/drawingml/2006/main" noGrp="1"/>
          </p:cNvSpPr>
          <p:nvPr/>
        </p:nvSpPr>
        <p:spPr>
          <a:xfrm xmlns:a="http://schemas.openxmlformats.org/drawingml/2006/main">
            <a:off x="1381125" y="2600325"/>
            <a:ext cx="5953125" cy="400050"/>
          </a:xfrm>
          <a:prstGeom xmlns:a="http://schemas.openxmlformats.org/drawingml/2006/main" prst="roundRect">
            <a:avLst>
              <a:gd name="adj" fmla="val 19048"/>
            </a:avLst>
          </a:prstGeom>
          <a:solidFill xmlns:a="http://schemas.openxmlformats.org/drawingml/2006/main">
            <a:srgbClr val="E7F7F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6FD458-DA7A-4B60-B72B-72CB2C22A102}"/>
              </a:ext>
            </a:extLst>
          </p:cNvPr>
          <p:cNvSpPr>
            <a:spLocks xmlns:a="http://schemas.openxmlformats.org/drawingml/2006/main" noGrp="1"/>
          </p:cNvSpPr>
          <p:nvPr/>
        </p:nvSpPr>
        <p:spPr>
          <a:xfrm xmlns:a="http://schemas.openxmlformats.org/drawingml/2006/main">
            <a:off x="1619250" y="26384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24D"/>
                </a:solidFill>
                <a:latin typeface="Arial"/>
                <a:ea typeface="Arial"/>
                <a:cs typeface="Arial"/>
              </a:defRPr>
            </a:pPr>
            <a:r>
              <a:rPr sz="1575" b="1">
                <a:solidFill>
                  <a:srgbClr val="17324D"/>
                </a:solidFill>
                <a:latin typeface="Arial"/>
                <a:ea typeface="Arial"/>
                <a:cs typeface="Arial"/>
              </a:rPr>
              <a:t>Paper</a:t>
            </a:r>
          </a:p>
        </p:txBody>
      </p:sp>
      <p:sp>
        <p:nvSpPr>
          <p:cNvPr id="11" name="">
            <a:extLst xmlns:a="http://schemas.openxmlformats.org/drawingml/2006/main">
              <a:ext uri="{FF2B5EF4-FFF2-40B4-BE49-F238E27FC236}">
                <a16:creationId xmlns:a16="http://schemas.microsoft.com/office/drawing/2014/main" id="{BEF8F376-9A19-4D55-8898-9775AE8A927C}"/>
              </a:ext>
            </a:extLst>
          </p:cNvPr>
          <p:cNvSpPr>
            <a:spLocks xmlns:a="http://schemas.openxmlformats.org/drawingml/2006/main" noGrp="1"/>
          </p:cNvSpPr>
          <p:nvPr/>
        </p:nvSpPr>
        <p:spPr>
          <a:xfrm xmlns:a="http://schemas.openxmlformats.org/drawingml/2006/main">
            <a:off x="5619750" y="26384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1">
                <a:solidFill>
                  <a:srgbClr val="17324D"/>
                </a:solidFill>
                <a:latin typeface="Arial"/>
                <a:ea typeface="Arial"/>
                <a:cs typeface="Arial"/>
              </a:defRPr>
            </a:pPr>
            <a:r>
              <a:rPr sz="1575" b="1">
                <a:solidFill>
                  <a:srgbClr val="17324D"/>
                </a:solidFill>
                <a:latin typeface="Arial"/>
                <a:ea typeface="Arial"/>
                <a:cs typeface="Arial"/>
              </a:rPr>
              <a:t>0.802</a:t>
            </a:r>
          </a:p>
        </p:txBody>
      </p:sp>
      <p:sp>
        <p:nvSpPr>
          <p:cNvPr id="12" name="">
            <a:extLst xmlns:a="http://schemas.openxmlformats.org/drawingml/2006/main">
              <a:ext uri="{FF2B5EF4-FFF2-40B4-BE49-F238E27FC236}">
                <a16:creationId xmlns:a16="http://schemas.microsoft.com/office/drawing/2014/main" id="{7DC8ECBA-C1E8-4BC0-82CA-9F7C2004314B}"/>
              </a:ext>
            </a:extLst>
          </p:cNvPr>
          <p:cNvSpPr>
            <a:spLocks xmlns:a="http://schemas.openxmlformats.org/drawingml/2006/main" noGrp="1"/>
          </p:cNvSpPr>
          <p:nvPr/>
        </p:nvSpPr>
        <p:spPr>
          <a:xfrm xmlns:a="http://schemas.openxmlformats.org/drawingml/2006/main">
            <a:off x="1619250" y="31337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Plastic</a:t>
            </a:r>
          </a:p>
        </p:txBody>
      </p:sp>
      <p:sp>
        <p:nvSpPr>
          <p:cNvPr id="13" name="">
            <a:extLst xmlns:a="http://schemas.openxmlformats.org/drawingml/2006/main">
              <a:ext uri="{FF2B5EF4-FFF2-40B4-BE49-F238E27FC236}">
                <a16:creationId xmlns:a16="http://schemas.microsoft.com/office/drawing/2014/main" id="{5F648629-7DFA-4308-AD5E-6D9DF302A058}"/>
              </a:ext>
            </a:extLst>
          </p:cNvPr>
          <p:cNvSpPr>
            <a:spLocks xmlns:a="http://schemas.openxmlformats.org/drawingml/2006/main" noGrp="1"/>
          </p:cNvSpPr>
          <p:nvPr/>
        </p:nvSpPr>
        <p:spPr>
          <a:xfrm xmlns:a="http://schemas.openxmlformats.org/drawingml/2006/main">
            <a:off x="5619750" y="31337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0">
                <a:solidFill>
                  <a:srgbClr val="17324D"/>
                </a:solidFill>
                <a:latin typeface="Arial"/>
                <a:ea typeface="Arial"/>
                <a:cs typeface="Arial"/>
              </a:defRPr>
            </a:pPr>
            <a:r>
              <a:rPr sz="1575" b="0">
                <a:solidFill>
                  <a:srgbClr val="17324D"/>
                </a:solidFill>
                <a:latin typeface="Arial"/>
                <a:ea typeface="Arial"/>
                <a:cs typeface="Arial"/>
              </a:rPr>
              <a:t>0.696</a:t>
            </a:r>
          </a:p>
        </p:txBody>
      </p:sp>
      <p:sp>
        <p:nvSpPr>
          <p:cNvPr id="14" name="">
            <a:extLst xmlns:a="http://schemas.openxmlformats.org/drawingml/2006/main">
              <a:ext uri="{FF2B5EF4-FFF2-40B4-BE49-F238E27FC236}">
                <a16:creationId xmlns:a16="http://schemas.microsoft.com/office/drawing/2014/main" id="{5B4A6789-5756-4E40-AD5A-92AF57EF8D24}"/>
              </a:ext>
            </a:extLst>
          </p:cNvPr>
          <p:cNvSpPr>
            <a:spLocks xmlns:a="http://schemas.openxmlformats.org/drawingml/2006/main" noGrp="1"/>
          </p:cNvSpPr>
          <p:nvPr/>
        </p:nvSpPr>
        <p:spPr>
          <a:xfrm xmlns:a="http://schemas.openxmlformats.org/drawingml/2006/main">
            <a:off x="1619250" y="36290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Metal</a:t>
            </a:r>
          </a:p>
        </p:txBody>
      </p:sp>
      <p:sp>
        <p:nvSpPr>
          <p:cNvPr id="15" name="">
            <a:extLst xmlns:a="http://schemas.openxmlformats.org/drawingml/2006/main">
              <a:ext uri="{FF2B5EF4-FFF2-40B4-BE49-F238E27FC236}">
                <a16:creationId xmlns:a16="http://schemas.microsoft.com/office/drawing/2014/main" id="{F0751BFD-4D15-4FD1-9300-171356006B1C}"/>
              </a:ext>
            </a:extLst>
          </p:cNvPr>
          <p:cNvSpPr>
            <a:spLocks xmlns:a="http://schemas.openxmlformats.org/drawingml/2006/main" noGrp="1"/>
          </p:cNvSpPr>
          <p:nvPr/>
        </p:nvSpPr>
        <p:spPr>
          <a:xfrm xmlns:a="http://schemas.openxmlformats.org/drawingml/2006/main">
            <a:off x="5619750" y="36290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0">
                <a:solidFill>
                  <a:srgbClr val="17324D"/>
                </a:solidFill>
                <a:latin typeface="Arial"/>
                <a:ea typeface="Arial"/>
                <a:cs typeface="Arial"/>
              </a:defRPr>
            </a:pPr>
            <a:r>
              <a:rPr sz="1575" b="0">
                <a:solidFill>
                  <a:srgbClr val="17324D"/>
                </a:solidFill>
                <a:latin typeface="Arial"/>
                <a:ea typeface="Arial"/>
                <a:cs typeface="Arial"/>
              </a:rPr>
              <a:t>0.672</a:t>
            </a:r>
          </a:p>
        </p:txBody>
      </p:sp>
      <p:sp>
        <p:nvSpPr>
          <p:cNvPr id="16" name="">
            <a:extLst xmlns:a="http://schemas.openxmlformats.org/drawingml/2006/main">
              <a:ext uri="{FF2B5EF4-FFF2-40B4-BE49-F238E27FC236}">
                <a16:creationId xmlns:a16="http://schemas.microsoft.com/office/drawing/2014/main" id="{46DE5216-B723-4F89-8C6B-D284D94153BD}"/>
              </a:ext>
            </a:extLst>
          </p:cNvPr>
          <p:cNvSpPr>
            <a:spLocks xmlns:a="http://schemas.openxmlformats.org/drawingml/2006/main" noGrp="1"/>
          </p:cNvSpPr>
          <p:nvPr/>
        </p:nvSpPr>
        <p:spPr>
          <a:xfrm xmlns:a="http://schemas.openxmlformats.org/drawingml/2006/main">
            <a:off x="1619250" y="41243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Glass</a:t>
            </a:r>
          </a:p>
        </p:txBody>
      </p:sp>
      <p:sp>
        <p:nvSpPr>
          <p:cNvPr id="17" name="">
            <a:extLst xmlns:a="http://schemas.openxmlformats.org/drawingml/2006/main">
              <a:ext uri="{FF2B5EF4-FFF2-40B4-BE49-F238E27FC236}">
                <a16:creationId xmlns:a16="http://schemas.microsoft.com/office/drawing/2014/main" id="{215A9625-18BF-4AE3-9ADC-2576EE1A0C74}"/>
              </a:ext>
            </a:extLst>
          </p:cNvPr>
          <p:cNvSpPr>
            <a:spLocks xmlns:a="http://schemas.openxmlformats.org/drawingml/2006/main" noGrp="1"/>
          </p:cNvSpPr>
          <p:nvPr/>
        </p:nvSpPr>
        <p:spPr>
          <a:xfrm xmlns:a="http://schemas.openxmlformats.org/drawingml/2006/main">
            <a:off x="5619750" y="41243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0">
                <a:solidFill>
                  <a:srgbClr val="17324D"/>
                </a:solidFill>
                <a:latin typeface="Arial"/>
                <a:ea typeface="Arial"/>
                <a:cs typeface="Arial"/>
              </a:defRPr>
            </a:pPr>
            <a:r>
              <a:rPr sz="1575" b="0">
                <a:solidFill>
                  <a:srgbClr val="17324D"/>
                </a:solidFill>
                <a:latin typeface="Arial"/>
                <a:ea typeface="Arial"/>
                <a:cs typeface="Arial"/>
              </a:rPr>
              <a:t>0.636</a:t>
            </a:r>
          </a:p>
        </p:txBody>
      </p:sp>
      <p:sp>
        <p:nvSpPr>
          <p:cNvPr id="18" name="">
            <a:extLst xmlns:a="http://schemas.openxmlformats.org/drawingml/2006/main">
              <a:ext uri="{FF2B5EF4-FFF2-40B4-BE49-F238E27FC236}">
                <a16:creationId xmlns:a16="http://schemas.microsoft.com/office/drawing/2014/main" id="{F5DF8709-A6A9-4361-B49C-9B465165A5A5}"/>
              </a:ext>
            </a:extLst>
          </p:cNvPr>
          <p:cNvSpPr>
            <a:spLocks xmlns:a="http://schemas.openxmlformats.org/drawingml/2006/main" noGrp="1"/>
          </p:cNvSpPr>
          <p:nvPr/>
        </p:nvSpPr>
        <p:spPr>
          <a:xfrm xmlns:a="http://schemas.openxmlformats.org/drawingml/2006/main">
            <a:off x="1619250" y="46196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Trash</a:t>
            </a:r>
          </a:p>
        </p:txBody>
      </p:sp>
      <p:sp>
        <p:nvSpPr>
          <p:cNvPr id="19" name="">
            <a:extLst xmlns:a="http://schemas.openxmlformats.org/drawingml/2006/main">
              <a:ext uri="{FF2B5EF4-FFF2-40B4-BE49-F238E27FC236}">
                <a16:creationId xmlns:a16="http://schemas.microsoft.com/office/drawing/2014/main" id="{145DA8CA-0CA3-480A-8004-54E118148080}"/>
              </a:ext>
            </a:extLst>
          </p:cNvPr>
          <p:cNvSpPr>
            <a:spLocks xmlns:a="http://schemas.openxmlformats.org/drawingml/2006/main" noGrp="1"/>
          </p:cNvSpPr>
          <p:nvPr/>
        </p:nvSpPr>
        <p:spPr>
          <a:xfrm xmlns:a="http://schemas.openxmlformats.org/drawingml/2006/main">
            <a:off x="5619750" y="46196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575" b="0">
                <a:solidFill>
                  <a:srgbClr val="17324D"/>
                </a:solidFill>
                <a:latin typeface="Arial"/>
                <a:ea typeface="Arial"/>
                <a:cs typeface="Arial"/>
              </a:defRPr>
            </a:pPr>
            <a:r>
              <a:rPr sz="1575" b="0">
                <a:solidFill>
                  <a:srgbClr val="17324D"/>
                </a:solidFill>
                <a:latin typeface="Arial"/>
                <a:ea typeface="Arial"/>
                <a:cs typeface="Arial"/>
              </a:rPr>
              <a:t>0.615</a:t>
            </a:r>
          </a:p>
        </p:txBody>
      </p:sp>
      <p:sp>
        <p:nvSpPr>
          <p:cNvPr id="20" name="">
            <a:extLst xmlns:a="http://schemas.openxmlformats.org/drawingml/2006/main">
              <a:ext uri="{FF2B5EF4-FFF2-40B4-BE49-F238E27FC236}">
                <a16:creationId xmlns:a16="http://schemas.microsoft.com/office/drawing/2014/main" id="{6AF6AC48-8ED8-4D4D-844B-C696527B2CA7}"/>
              </a:ext>
            </a:extLst>
          </p:cNvPr>
          <p:cNvSpPr>
            <a:spLocks xmlns:a="http://schemas.openxmlformats.org/drawingml/2006/main" noGrp="1"/>
          </p:cNvSpPr>
          <p:nvPr/>
        </p:nvSpPr>
        <p:spPr>
          <a:xfrm xmlns:a="http://schemas.openxmlformats.org/drawingml/2006/main">
            <a:off x="8810625" y="2095500"/>
            <a:ext cx="2333625" cy="2333625"/>
          </a:xfrm>
          <a:prstGeom xmlns:a="http://schemas.openxmlformats.org/drawingml/2006/main" prst="roundRect">
            <a:avLst>
              <a:gd name="adj" fmla="val 3265"/>
            </a:avLst>
          </a:prstGeom>
          <a:solidFill xmlns:a="http://schemas.openxmlformats.org/drawingml/2006/main">
            <a:srgbClr val="E7F7F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5071B67-3AFC-4ECF-951E-310D5C21E0AD}"/>
              </a:ext>
            </a:extLst>
          </p:cNvPr>
          <p:cNvSpPr>
            <a:spLocks xmlns:a="http://schemas.openxmlformats.org/drawingml/2006/main" noGrp="1"/>
          </p:cNvSpPr>
          <p:nvPr/>
        </p:nvSpPr>
        <p:spPr>
          <a:xfrm xmlns:a="http://schemas.openxmlformats.org/drawingml/2006/main">
            <a:off x="9048750" y="23336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087E8B"/>
                </a:solidFill>
                <a:latin typeface="Arial"/>
                <a:ea typeface="Arial"/>
                <a:cs typeface="Arial"/>
              </a:defRPr>
            </a:pPr>
            <a:r>
              <a:rPr sz="1650" b="1">
                <a:solidFill>
                  <a:srgbClr val="087E8B"/>
                </a:solidFill>
                <a:latin typeface="Arial"/>
                <a:ea typeface="Arial"/>
                <a:cs typeface="Arial"/>
              </a:rPr>
              <a:t>Interpretation</a:t>
            </a:r>
          </a:p>
        </p:txBody>
      </p:sp>
      <p:sp>
        <p:nvSpPr>
          <p:cNvPr id="22" name="">
            <a:extLst xmlns:a="http://schemas.openxmlformats.org/drawingml/2006/main">
              <a:ext uri="{FF2B5EF4-FFF2-40B4-BE49-F238E27FC236}">
                <a16:creationId xmlns:a16="http://schemas.microsoft.com/office/drawing/2014/main" id="{0F1E6DB2-E408-4DE2-BB92-00C8EC116740}"/>
              </a:ext>
            </a:extLst>
          </p:cNvPr>
          <p:cNvSpPr>
            <a:spLocks xmlns:a="http://schemas.openxmlformats.org/drawingml/2006/main" noGrp="1"/>
          </p:cNvSpPr>
          <p:nvPr/>
        </p:nvSpPr>
        <p:spPr>
          <a:xfrm xmlns:a="http://schemas.openxmlformats.org/drawingml/2006/main">
            <a:off x="9048750" y="2857500"/>
            <a:ext cx="1809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82512"/>
          </a:bodyPr>
          <a:lstStyle xmlns:a="http://schemas.openxmlformats.org/drawingml/2006/main"/>
          <a:p xmlns:a="http://schemas.openxmlformats.org/drawingml/2006/main">
            <a:pPr algn="ctr">
              <a:defRPr sz="1500" b="0">
                <a:solidFill>
                  <a:srgbClr val="17324D"/>
                </a:solidFill>
                <a:latin typeface="Arial"/>
                <a:ea typeface="Arial"/>
                <a:cs typeface="Arial"/>
              </a:defRPr>
            </a:pPr>
            <a:r>
              <a:rPr sz="1500" b="0">
                <a:solidFill>
                  <a:srgbClr val="17324D"/>
                </a:solidFill>
                <a:latin typeface="Arial"/>
                <a:ea typeface="Arial"/>
                <a:cs typeface="Arial"/>
              </a:rPr>
              <a:t>Cardboard and paper have strong visual texture cues. Glass, metal, plastic, and the smaller trash class remain harder.</a:t>
            </a:r>
          </a:p>
        </p:txBody>
      </p:sp>
      <p:sp>
        <p:nvSpPr>
          <p:cNvPr id="23" name="">
            <a:extLst xmlns:a="http://schemas.openxmlformats.org/drawingml/2006/main">
              <a:ext uri="{FF2B5EF4-FFF2-40B4-BE49-F238E27FC236}">
                <a16:creationId xmlns:a16="http://schemas.microsoft.com/office/drawing/2014/main" id="{E96CE090-684A-4FB9-8E5A-7A8EDB415743}"/>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9</a:t>
            </a:r>
          </a:p>
        </p:txBody>
      </p:sp>
    </p:spTree>
    <p:extLst>
      <p:ext uri="{BB962C8B-B14F-4D97-AF65-F5344CB8AC3E}">
        <p14:creationId xmlns:p14="http://schemas.microsoft.com/office/powerpoint/2010/main" val="16186214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EB6673-F188-4548-9D93-0104C6F1CE4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CAE853-B609-40A0-B718-285411DFE11C}"/>
              </a:ext>
            </a:extLst>
          </p:cNvPr>
          <p:cNvSpPr>
            <a:spLocks xmlns:a="http://schemas.openxmlformats.org/drawingml/2006/main" noGrp="1"/>
          </p:cNvSpPr>
          <p:nvPr/>
        </p:nvSpPr>
        <p:spPr>
          <a:xfrm xmlns:a="http://schemas.openxmlformats.org/drawingml/2006/main">
            <a:off x="666750" y="495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Challenges and limitations</a:t>
            </a:r>
          </a:p>
        </p:txBody>
      </p:sp>
      <p:sp>
        <p:nvSpPr>
          <p:cNvPr id="3" name="">
            <a:extLst xmlns:a="http://schemas.openxmlformats.org/drawingml/2006/main">
              <a:ext uri="{FF2B5EF4-FFF2-40B4-BE49-F238E27FC236}">
                <a16:creationId xmlns:a16="http://schemas.microsoft.com/office/drawing/2014/main" id="{13F66230-73DF-402F-A802-DDB231D9F209}"/>
              </a:ext>
            </a:extLst>
          </p:cNvPr>
          <p:cNvSpPr>
            <a:spLocks xmlns:a="http://schemas.openxmlformats.org/drawingml/2006/main" noGrp="1"/>
          </p:cNvSpPr>
          <p:nvPr/>
        </p:nvSpPr>
        <p:spPr>
          <a:xfrm xmlns:a="http://schemas.openxmlformats.org/drawingml/2006/main">
            <a:off x="685800" y="105727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5B6B7A"/>
                </a:solidFill>
                <a:latin typeface="Arial"/>
                <a:ea typeface="Arial"/>
                <a:cs typeface="Arial"/>
              </a:defRPr>
            </a:pPr>
            <a:r>
              <a:rPr sz="1275" b="0">
                <a:solidFill>
                  <a:srgbClr val="5B6B7A"/>
                </a:solidFill>
                <a:latin typeface="Arial"/>
                <a:ea typeface="Arial"/>
                <a:cs typeface="Arial"/>
              </a:rPr>
              <a:t>The benchmark is useful, but real deployment would need broader data</a:t>
            </a:r>
          </a:p>
        </p:txBody>
      </p:sp>
      <p:sp>
        <p:nvSpPr>
          <p:cNvPr id="4" name="">
            <a:extLst xmlns:a="http://schemas.openxmlformats.org/drawingml/2006/main">
              <a:ext uri="{FF2B5EF4-FFF2-40B4-BE49-F238E27FC236}">
                <a16:creationId xmlns:a16="http://schemas.microsoft.com/office/drawing/2014/main" id="{CA215FEC-94A7-4EFD-A3A8-DC185474C058}"/>
              </a:ext>
            </a:extLst>
          </p:cNvPr>
          <p:cNvSpPr>
            <a:spLocks xmlns:a="http://schemas.openxmlformats.org/drawingml/2006/main" noGrp="1"/>
          </p:cNvSpPr>
          <p:nvPr/>
        </p:nvSpPr>
        <p:spPr>
          <a:xfrm xmlns:a="http://schemas.openxmlformats.org/drawingml/2006/main">
            <a:off x="952500" y="1619250"/>
            <a:ext cx="10287000" cy="619125"/>
          </a:xfrm>
          <a:prstGeom xmlns:a="http://schemas.openxmlformats.org/drawingml/2006/main" prst="roundRect">
            <a:avLst>
              <a:gd name="adj" fmla="val 12308"/>
            </a:avLst>
          </a:prstGeom>
          <a:solidFill xmlns:a="http://schemas.openxmlformats.org/drawingml/2006/main">
            <a:srgbClr val="EEF5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65D9369-C08C-4FA7-8AB6-8705EFD96151}"/>
              </a:ext>
            </a:extLst>
          </p:cNvPr>
          <p:cNvSpPr>
            <a:spLocks xmlns:a="http://schemas.openxmlformats.org/drawingml/2006/main" noGrp="1"/>
          </p:cNvSpPr>
          <p:nvPr/>
        </p:nvSpPr>
        <p:spPr>
          <a:xfrm xmlns:a="http://schemas.openxmlformats.org/drawingml/2006/main">
            <a:off x="1238250" y="17526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087E8B"/>
                </a:solidFill>
                <a:latin typeface="Arial"/>
                <a:ea typeface="Arial"/>
                <a:cs typeface="Arial"/>
              </a:defRPr>
            </a:pPr>
            <a:r>
              <a:rPr sz="1575" b="1">
                <a:solidFill>
                  <a:srgbClr val="087E8B"/>
                </a:solidFill>
                <a:latin typeface="Arial"/>
                <a:ea typeface="Arial"/>
                <a:cs typeface="Arial"/>
              </a:rPr>
              <a:t>Small dataset</a:t>
            </a:r>
          </a:p>
        </p:txBody>
      </p:sp>
      <p:sp>
        <p:nvSpPr>
          <p:cNvPr id="6" name="">
            <a:extLst xmlns:a="http://schemas.openxmlformats.org/drawingml/2006/main">
              <a:ext uri="{FF2B5EF4-FFF2-40B4-BE49-F238E27FC236}">
                <a16:creationId xmlns:a16="http://schemas.microsoft.com/office/drawing/2014/main" id="{8D9B1CC3-A06D-494D-A8FC-B07246B038CD}"/>
              </a:ext>
            </a:extLst>
          </p:cNvPr>
          <p:cNvSpPr>
            <a:spLocks xmlns:a="http://schemas.openxmlformats.org/drawingml/2006/main" noGrp="1"/>
          </p:cNvSpPr>
          <p:nvPr/>
        </p:nvSpPr>
        <p:spPr>
          <a:xfrm xmlns:a="http://schemas.openxmlformats.org/drawingml/2006/main">
            <a:off x="4095750" y="174307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24D"/>
                </a:solidFill>
                <a:latin typeface="Arial"/>
                <a:ea typeface="Arial"/>
                <a:cs typeface="Arial"/>
              </a:defRPr>
            </a:pPr>
            <a:r>
              <a:rPr sz="1500" b="0">
                <a:solidFill>
                  <a:srgbClr val="17324D"/>
                </a:solidFill>
                <a:latin typeface="Arial"/>
                <a:ea typeface="Arial"/>
                <a:cs typeface="Arial"/>
              </a:rPr>
              <a:t>2,527 images can lead to overfitting</a:t>
            </a:r>
          </a:p>
        </p:txBody>
      </p:sp>
      <p:sp>
        <p:nvSpPr>
          <p:cNvPr id="7" name="">
            <a:extLst xmlns:a="http://schemas.openxmlformats.org/drawingml/2006/main">
              <a:ext uri="{FF2B5EF4-FFF2-40B4-BE49-F238E27FC236}">
                <a16:creationId xmlns:a16="http://schemas.microsoft.com/office/drawing/2014/main" id="{09CDCB56-1D06-4F0F-91C3-02A054C7E993}"/>
              </a:ext>
            </a:extLst>
          </p:cNvPr>
          <p:cNvSpPr>
            <a:spLocks xmlns:a="http://schemas.openxmlformats.org/drawingml/2006/main" noGrp="1"/>
          </p:cNvSpPr>
          <p:nvPr/>
        </p:nvSpPr>
        <p:spPr>
          <a:xfrm xmlns:a="http://schemas.openxmlformats.org/drawingml/2006/main">
            <a:off x="952500" y="2524125"/>
            <a:ext cx="10287000" cy="619125"/>
          </a:xfrm>
          <a:prstGeom xmlns:a="http://schemas.openxmlformats.org/drawingml/2006/main" prst="roundRect">
            <a:avLst>
              <a:gd name="adj" fmla="val 12308"/>
            </a:avLst>
          </a:prstGeom>
          <a:solidFill xmlns:a="http://schemas.openxmlformats.org/drawingml/2006/main">
            <a:srgbClr val="E7F7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4BE57F-02D1-4A67-871D-DAF728B633F7}"/>
              </a:ext>
            </a:extLst>
          </p:cNvPr>
          <p:cNvSpPr>
            <a:spLocks xmlns:a="http://schemas.openxmlformats.org/drawingml/2006/main" noGrp="1"/>
          </p:cNvSpPr>
          <p:nvPr/>
        </p:nvSpPr>
        <p:spPr>
          <a:xfrm xmlns:a="http://schemas.openxmlformats.org/drawingml/2006/main">
            <a:off x="1238250" y="265747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087E8B"/>
                </a:solidFill>
                <a:latin typeface="Arial"/>
                <a:ea typeface="Arial"/>
                <a:cs typeface="Arial"/>
              </a:defRPr>
            </a:pPr>
            <a:r>
              <a:rPr sz="1575" b="1">
                <a:solidFill>
                  <a:srgbClr val="087E8B"/>
                </a:solidFill>
                <a:latin typeface="Arial"/>
                <a:ea typeface="Arial"/>
                <a:cs typeface="Arial"/>
              </a:rPr>
              <a:t>Class imbalance</a:t>
            </a:r>
          </a:p>
        </p:txBody>
      </p:sp>
      <p:sp>
        <p:nvSpPr>
          <p:cNvPr id="9" name="">
            <a:extLst xmlns:a="http://schemas.openxmlformats.org/drawingml/2006/main">
              <a:ext uri="{FF2B5EF4-FFF2-40B4-BE49-F238E27FC236}">
                <a16:creationId xmlns:a16="http://schemas.microsoft.com/office/drawing/2014/main" id="{57548FAB-C172-408C-8BEF-6F439BA68B3D}"/>
              </a:ext>
            </a:extLst>
          </p:cNvPr>
          <p:cNvSpPr>
            <a:spLocks xmlns:a="http://schemas.openxmlformats.org/drawingml/2006/main" noGrp="1"/>
          </p:cNvSpPr>
          <p:nvPr/>
        </p:nvSpPr>
        <p:spPr>
          <a:xfrm xmlns:a="http://schemas.openxmlformats.org/drawingml/2006/main">
            <a:off x="4095750" y="26479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24D"/>
                </a:solidFill>
                <a:latin typeface="Arial"/>
                <a:ea typeface="Arial"/>
                <a:cs typeface="Arial"/>
              </a:defRPr>
            </a:pPr>
            <a:r>
              <a:rPr sz="1500" b="0">
                <a:solidFill>
                  <a:srgbClr val="17324D"/>
                </a:solidFill>
                <a:latin typeface="Arial"/>
                <a:ea typeface="Arial"/>
                <a:cs typeface="Arial"/>
              </a:rPr>
              <a:t>Trash has far fewer images than paper or glass</a:t>
            </a:r>
          </a:p>
        </p:txBody>
      </p:sp>
      <p:sp>
        <p:nvSpPr>
          <p:cNvPr id="10" name="">
            <a:extLst xmlns:a="http://schemas.openxmlformats.org/drawingml/2006/main">
              <a:ext uri="{FF2B5EF4-FFF2-40B4-BE49-F238E27FC236}">
                <a16:creationId xmlns:a16="http://schemas.microsoft.com/office/drawing/2014/main" id="{67A289D4-855C-4E94-BE86-BC73840F0488}"/>
              </a:ext>
            </a:extLst>
          </p:cNvPr>
          <p:cNvSpPr>
            <a:spLocks xmlns:a="http://schemas.openxmlformats.org/drawingml/2006/main" noGrp="1"/>
          </p:cNvSpPr>
          <p:nvPr/>
        </p:nvSpPr>
        <p:spPr>
          <a:xfrm xmlns:a="http://schemas.openxmlformats.org/drawingml/2006/main">
            <a:off x="952500" y="3429000"/>
            <a:ext cx="10287000" cy="619125"/>
          </a:xfrm>
          <a:prstGeom xmlns:a="http://schemas.openxmlformats.org/drawingml/2006/main" prst="roundRect">
            <a:avLst>
              <a:gd name="adj" fmla="val 12308"/>
            </a:avLst>
          </a:prstGeom>
          <a:solidFill xmlns:a="http://schemas.openxmlformats.org/drawingml/2006/main">
            <a:srgbClr val="EEF5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68D3C19-3ED1-4235-AEC1-60ED097ECA2B}"/>
              </a:ext>
            </a:extLst>
          </p:cNvPr>
          <p:cNvSpPr>
            <a:spLocks xmlns:a="http://schemas.openxmlformats.org/drawingml/2006/main" noGrp="1"/>
          </p:cNvSpPr>
          <p:nvPr/>
        </p:nvSpPr>
        <p:spPr>
          <a:xfrm xmlns:a="http://schemas.openxmlformats.org/drawingml/2006/main">
            <a:off x="1238250" y="35623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087E8B"/>
                </a:solidFill>
                <a:latin typeface="Arial"/>
                <a:ea typeface="Arial"/>
                <a:cs typeface="Arial"/>
              </a:defRPr>
            </a:pPr>
            <a:r>
              <a:rPr sz="1575" b="1">
                <a:solidFill>
                  <a:srgbClr val="087E8B"/>
                </a:solidFill>
                <a:latin typeface="Arial"/>
                <a:ea typeface="Arial"/>
                <a:cs typeface="Arial"/>
              </a:rPr>
              <a:t>Similar materials</a:t>
            </a:r>
          </a:p>
        </p:txBody>
      </p:sp>
      <p:sp>
        <p:nvSpPr>
          <p:cNvPr id="12" name="">
            <a:extLst xmlns:a="http://schemas.openxmlformats.org/drawingml/2006/main">
              <a:ext uri="{FF2B5EF4-FFF2-40B4-BE49-F238E27FC236}">
                <a16:creationId xmlns:a16="http://schemas.microsoft.com/office/drawing/2014/main" id="{5093CD76-D10A-4FAC-BA01-041E403F72F8}"/>
              </a:ext>
            </a:extLst>
          </p:cNvPr>
          <p:cNvSpPr>
            <a:spLocks xmlns:a="http://schemas.openxmlformats.org/drawingml/2006/main" noGrp="1"/>
          </p:cNvSpPr>
          <p:nvPr/>
        </p:nvSpPr>
        <p:spPr>
          <a:xfrm xmlns:a="http://schemas.openxmlformats.org/drawingml/2006/main">
            <a:off x="4095750" y="35528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24D"/>
                </a:solidFill>
                <a:latin typeface="Arial"/>
                <a:ea typeface="Arial"/>
                <a:cs typeface="Arial"/>
              </a:defRPr>
            </a:pPr>
            <a:r>
              <a:rPr sz="1500" b="0">
                <a:solidFill>
                  <a:srgbClr val="17324D"/>
                </a:solidFill>
                <a:latin typeface="Arial"/>
                <a:ea typeface="Arial"/>
                <a:cs typeface="Arial"/>
              </a:rPr>
              <a:t>Glass, plastic, and metal can share visual cues</a:t>
            </a:r>
          </a:p>
        </p:txBody>
      </p:sp>
      <p:sp>
        <p:nvSpPr>
          <p:cNvPr id="13" name="">
            <a:extLst xmlns:a="http://schemas.openxmlformats.org/drawingml/2006/main">
              <a:ext uri="{FF2B5EF4-FFF2-40B4-BE49-F238E27FC236}">
                <a16:creationId xmlns:a16="http://schemas.microsoft.com/office/drawing/2014/main" id="{2420E781-0D56-4A21-8F2F-E25D9D329C20}"/>
              </a:ext>
            </a:extLst>
          </p:cNvPr>
          <p:cNvSpPr>
            <a:spLocks xmlns:a="http://schemas.openxmlformats.org/drawingml/2006/main" noGrp="1"/>
          </p:cNvSpPr>
          <p:nvPr/>
        </p:nvSpPr>
        <p:spPr>
          <a:xfrm xmlns:a="http://schemas.openxmlformats.org/drawingml/2006/main">
            <a:off x="952500" y="4333875"/>
            <a:ext cx="10287000" cy="619125"/>
          </a:xfrm>
          <a:prstGeom xmlns:a="http://schemas.openxmlformats.org/drawingml/2006/main" prst="roundRect">
            <a:avLst>
              <a:gd name="adj" fmla="val 12308"/>
            </a:avLst>
          </a:prstGeom>
          <a:solidFill xmlns:a="http://schemas.openxmlformats.org/drawingml/2006/main">
            <a:srgbClr val="E7F7F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CA04DA-4E43-4BD1-A87F-C198FFD53581}"/>
              </a:ext>
            </a:extLst>
          </p:cNvPr>
          <p:cNvSpPr>
            <a:spLocks xmlns:a="http://schemas.openxmlformats.org/drawingml/2006/main" noGrp="1"/>
          </p:cNvSpPr>
          <p:nvPr/>
        </p:nvSpPr>
        <p:spPr>
          <a:xfrm xmlns:a="http://schemas.openxmlformats.org/drawingml/2006/main">
            <a:off x="1238250" y="44672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087E8B"/>
                </a:solidFill>
                <a:latin typeface="Arial"/>
                <a:ea typeface="Arial"/>
                <a:cs typeface="Arial"/>
              </a:defRPr>
            </a:pPr>
            <a:r>
              <a:rPr sz="1575" b="1">
                <a:solidFill>
                  <a:srgbClr val="087E8B"/>
                </a:solidFill>
                <a:latin typeface="Arial"/>
                <a:ea typeface="Arial"/>
                <a:cs typeface="Arial"/>
              </a:rPr>
              <a:t>Controlled backgrounds</a:t>
            </a:r>
          </a:p>
        </p:txBody>
      </p:sp>
      <p:sp>
        <p:nvSpPr>
          <p:cNvPr id="15" name="">
            <a:extLst xmlns:a="http://schemas.openxmlformats.org/drawingml/2006/main">
              <a:ext uri="{FF2B5EF4-FFF2-40B4-BE49-F238E27FC236}">
                <a16:creationId xmlns:a16="http://schemas.microsoft.com/office/drawing/2014/main" id="{3084D56A-3898-4422-A30F-C1943BD3EBC3}"/>
              </a:ext>
            </a:extLst>
          </p:cNvPr>
          <p:cNvSpPr>
            <a:spLocks xmlns:a="http://schemas.openxmlformats.org/drawingml/2006/main" noGrp="1"/>
          </p:cNvSpPr>
          <p:nvPr/>
        </p:nvSpPr>
        <p:spPr>
          <a:xfrm xmlns:a="http://schemas.openxmlformats.org/drawingml/2006/main">
            <a:off x="4095750" y="445770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24D"/>
                </a:solidFill>
                <a:latin typeface="Arial"/>
                <a:ea typeface="Arial"/>
                <a:cs typeface="Arial"/>
              </a:defRPr>
            </a:pPr>
            <a:r>
              <a:rPr sz="1500" b="0">
                <a:solidFill>
                  <a:srgbClr val="17324D"/>
                </a:solidFill>
                <a:latin typeface="Arial"/>
                <a:ea typeface="Arial"/>
                <a:cs typeface="Arial"/>
              </a:rPr>
              <a:t>Real environments include clutter, shadows, and multiple objects</a:t>
            </a:r>
          </a:p>
        </p:txBody>
      </p:sp>
      <p:sp>
        <p:nvSpPr>
          <p:cNvPr id="16" name="">
            <a:extLst xmlns:a="http://schemas.openxmlformats.org/drawingml/2006/main">
              <a:ext uri="{FF2B5EF4-FFF2-40B4-BE49-F238E27FC236}">
                <a16:creationId xmlns:a16="http://schemas.microsoft.com/office/drawing/2014/main" id="{F006E57E-C9BD-416B-B1E1-D6D80A61B775}"/>
              </a:ext>
            </a:extLst>
          </p:cNvPr>
          <p:cNvSpPr>
            <a:spLocks xmlns:a="http://schemas.openxmlformats.org/drawingml/2006/main" noGrp="1"/>
          </p:cNvSpPr>
          <p:nvPr/>
        </p:nvSpPr>
        <p:spPr>
          <a:xfrm xmlns:a="http://schemas.openxmlformats.org/drawingml/2006/main">
            <a:off x="952500" y="55721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7422"/>
          </a:bodyPr>
          <a:lstStyle xmlns:a="http://schemas.openxmlformats.org/drawingml/2006/main"/>
          <a:p xmlns:a="http://schemas.openxmlformats.org/drawingml/2006/main">
            <a:pPr algn="ctr">
              <a:defRPr sz="1500" b="1">
                <a:solidFill>
                  <a:srgbClr val="092B3D"/>
                </a:solidFill>
                <a:latin typeface="Arial"/>
                <a:ea typeface="Arial"/>
                <a:cs typeface="Arial"/>
              </a:defRPr>
            </a:pPr>
            <a:r>
              <a:rPr sz="1500" b="1">
                <a:solidFill>
                  <a:srgbClr val="092B3D"/>
                </a:solidFill>
                <a:latin typeface="Arial"/>
                <a:ea typeface="Arial"/>
                <a:cs typeface="Arial"/>
              </a:rPr>
              <a:t>Mitigation in this project: augmentation, dropout, weight decay, weighted loss, validation-based checkpoint selection</a:t>
            </a:r>
          </a:p>
        </p:txBody>
      </p:sp>
      <p:sp>
        <p:nvSpPr>
          <p:cNvPr id="17" name="">
            <a:extLst xmlns:a="http://schemas.openxmlformats.org/drawingml/2006/main">
              <a:ext uri="{FF2B5EF4-FFF2-40B4-BE49-F238E27FC236}">
                <a16:creationId xmlns:a16="http://schemas.microsoft.com/office/drawing/2014/main" id="{926DC02F-C93E-49CA-9CB3-B5D6D50D94C2}"/>
              </a:ext>
            </a:extLst>
          </p:cNvPr>
          <p:cNvSpPr>
            <a:spLocks xmlns:a="http://schemas.openxmlformats.org/drawingml/2006/main" noGrp="1"/>
          </p:cNvSpPr>
          <p:nvPr/>
        </p:nvSpPr>
        <p:spPr>
          <a:xfrm xmlns:a="http://schemas.openxmlformats.org/drawingml/2006/main">
            <a:off x="685800" y="6477000"/>
            <a:ext cx="1076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00" b="0">
                <a:solidFill>
                  <a:srgbClr val="5B6B7A"/>
                </a:solidFill>
                <a:latin typeface="Arial"/>
                <a:ea typeface="Arial"/>
                <a:cs typeface="Arial"/>
              </a:defRPr>
            </a:pPr>
            <a:r>
              <a:rPr sz="900" b="0">
                <a:solidFill>
                  <a:srgbClr val="5B6B7A"/>
                </a:solidFill>
                <a:latin typeface="Arial"/>
                <a:ea typeface="Arial"/>
                <a:cs typeface="Arial"/>
              </a:rPr>
              <a:t>Abdullayev Namig  |  Deep Learning Final Project  |  10</a:t>
            </a:r>
          </a:p>
        </p:txBody>
      </p:sp>
    </p:spTree>
    <p:extLst>
      <p:ext uri="{BB962C8B-B14F-4D97-AF65-F5344CB8AC3E}">
        <p14:creationId xmlns:p14="http://schemas.microsoft.com/office/powerpoint/2010/main" val="2084829905"/>
      </p:ext>
    </p:extLst>
  </p:cSld>
</p:sld>
</file>

<file path=ppt/slides/slide11.xml><?xml version="1.0" encoding="utf-8"?>
<p:sld xmlns:p="http://schemas.openxmlformats.org/presentationml/2006/main">
  <p:cSld>
    <p:bg>
      <p:bgPr>
        <a:solidFill xmlns:a="http://schemas.openxmlformats.org/drawingml/2006/main">
          <a:srgbClr val="092B3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B142C6-2131-487A-8C59-163605D1BF0A}"/>
              </a:ext>
            </a:extLst>
          </p:cNvPr>
          <p:cNvSpPr>
            <a:spLocks xmlns:a="http://schemas.openxmlformats.org/drawingml/2006/main" noGrp="1"/>
          </p:cNvSpPr>
          <p:nvPr/>
        </p:nvSpPr>
        <p:spPr>
          <a:xfrm xmlns:a="http://schemas.openxmlformats.org/drawingml/2006/main">
            <a:off x="685800" y="7143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1DA54543-E1C8-4EA9-A1C7-6CB8A4C85F3F}"/>
              </a:ext>
            </a:extLst>
          </p:cNvPr>
          <p:cNvSpPr>
            <a:spLocks xmlns:a="http://schemas.openxmlformats.org/drawingml/2006/main" noGrp="1"/>
          </p:cNvSpPr>
          <p:nvPr/>
        </p:nvSpPr>
        <p:spPr>
          <a:xfrm xmlns:a="http://schemas.openxmlformats.org/drawingml/2006/main">
            <a:off x="685800" y="150495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0">
                <a:solidFill>
                  <a:srgbClr val="D9F3F3"/>
                </a:solidFill>
                <a:latin typeface="Arial"/>
                <a:ea typeface="Arial"/>
                <a:cs typeface="Arial"/>
              </a:defRPr>
            </a:pPr>
            <a:r>
              <a:rPr sz="2325" b="0">
                <a:solidFill>
                  <a:srgbClr val="D9F3F3"/>
                </a:solidFill>
                <a:latin typeface="Arial"/>
                <a:ea typeface="Arial"/>
                <a:cs typeface="Arial"/>
              </a:rPr>
              <a:t>MaterialFocusNet improves waste classification over a simpler baseline CNN.</a:t>
            </a:r>
          </a:p>
        </p:txBody>
      </p:sp>
      <p:sp>
        <p:nvSpPr>
          <p:cNvPr id="3" name="">
            <a:extLst xmlns:a="http://schemas.openxmlformats.org/drawingml/2006/main">
              <a:ext uri="{FF2B5EF4-FFF2-40B4-BE49-F238E27FC236}">
                <a16:creationId xmlns:a16="http://schemas.microsoft.com/office/drawing/2014/main" id="{D9B33731-1B00-4589-917E-5A86B8EA1003}"/>
              </a:ext>
            </a:extLst>
          </p:cNvPr>
          <p:cNvSpPr>
            <a:spLocks xmlns:a="http://schemas.openxmlformats.org/drawingml/2006/main" noGrp="1"/>
          </p:cNvSpPr>
          <p:nvPr/>
        </p:nvSpPr>
        <p:spPr>
          <a:xfrm xmlns:a="http://schemas.openxmlformats.org/drawingml/2006/main">
            <a:off x="819150" y="3095625"/>
            <a:ext cx="2905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750" b="1">
                <a:solidFill>
                  <a:srgbClr val="7CE0E4"/>
                </a:solidFill>
                <a:latin typeface="Arial"/>
                <a:ea typeface="Arial"/>
                <a:cs typeface="Arial"/>
              </a:defRPr>
            </a:pPr>
            <a:r>
              <a:rPr sz="3750" b="1">
                <a:solidFill>
                  <a:srgbClr val="7CE0E4"/>
                </a:solidFill>
                <a:latin typeface="Arial"/>
                <a:ea typeface="Arial"/>
                <a:cs typeface="Arial"/>
              </a:rPr>
              <a:t>72.63%</a:t>
            </a:r>
          </a:p>
        </p:txBody>
      </p:sp>
      <p:sp>
        <p:nvSpPr>
          <p:cNvPr id="4" name="">
            <a:extLst xmlns:a="http://schemas.openxmlformats.org/drawingml/2006/main">
              <a:ext uri="{FF2B5EF4-FFF2-40B4-BE49-F238E27FC236}">
                <a16:creationId xmlns:a16="http://schemas.microsoft.com/office/drawing/2014/main" id="{8E292CFA-B05F-4B54-A3A1-6678BACAEA89}"/>
              </a:ext>
            </a:extLst>
          </p:cNvPr>
          <p:cNvSpPr>
            <a:spLocks xmlns:a="http://schemas.openxmlformats.org/drawingml/2006/main" noGrp="1"/>
          </p:cNvSpPr>
          <p:nvPr/>
        </p:nvSpPr>
        <p:spPr>
          <a:xfrm xmlns:a="http://schemas.openxmlformats.org/drawingml/2006/main">
            <a:off x="819150" y="37814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9DCE1"/>
                </a:solidFill>
                <a:latin typeface="Arial"/>
                <a:ea typeface="Arial"/>
                <a:cs typeface="Arial"/>
              </a:defRPr>
            </a:pPr>
            <a:r>
              <a:rPr sz="1425" b="0">
                <a:solidFill>
                  <a:srgbClr val="A9DCE1"/>
                </a:solidFill>
                <a:latin typeface="Arial"/>
                <a:ea typeface="Arial"/>
                <a:cs typeface="Arial"/>
              </a:rPr>
              <a:t>test accuracy</a:t>
            </a:r>
          </a:p>
        </p:txBody>
      </p:sp>
      <p:sp>
        <p:nvSpPr>
          <p:cNvPr id="5" name="">
            <a:extLst xmlns:a="http://schemas.openxmlformats.org/drawingml/2006/main">
              <a:ext uri="{FF2B5EF4-FFF2-40B4-BE49-F238E27FC236}">
                <a16:creationId xmlns:a16="http://schemas.microsoft.com/office/drawing/2014/main" id="{13094A1A-2A0B-4FCD-B584-51D3022CDF13}"/>
              </a:ext>
            </a:extLst>
          </p:cNvPr>
          <p:cNvSpPr>
            <a:spLocks xmlns:a="http://schemas.openxmlformats.org/drawingml/2006/main" noGrp="1"/>
          </p:cNvSpPr>
          <p:nvPr/>
        </p:nvSpPr>
        <p:spPr>
          <a:xfrm xmlns:a="http://schemas.openxmlformats.org/drawingml/2006/main">
            <a:off x="4381500" y="3095625"/>
            <a:ext cx="2905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750" b="1">
                <a:solidFill>
                  <a:srgbClr val="7CE0E4"/>
                </a:solidFill>
                <a:latin typeface="Arial"/>
                <a:ea typeface="Arial"/>
                <a:cs typeface="Arial"/>
              </a:defRPr>
            </a:pPr>
            <a:r>
              <a:rPr sz="3750" b="1">
                <a:solidFill>
                  <a:srgbClr val="7CE0E4"/>
                </a:solidFill>
                <a:latin typeface="Arial"/>
                <a:ea typeface="Arial"/>
                <a:cs typeface="Arial"/>
              </a:rPr>
              <a:t>71.43%</a:t>
            </a:r>
          </a:p>
        </p:txBody>
      </p:sp>
      <p:sp>
        <p:nvSpPr>
          <p:cNvPr id="6" name="">
            <a:extLst xmlns:a="http://schemas.openxmlformats.org/drawingml/2006/main">
              <a:ext uri="{FF2B5EF4-FFF2-40B4-BE49-F238E27FC236}">
                <a16:creationId xmlns:a16="http://schemas.microsoft.com/office/drawing/2014/main" id="{9632A19D-761A-42FA-96F0-75323A4165B6}"/>
              </a:ext>
            </a:extLst>
          </p:cNvPr>
          <p:cNvSpPr>
            <a:spLocks xmlns:a="http://schemas.openxmlformats.org/drawingml/2006/main" noGrp="1"/>
          </p:cNvSpPr>
          <p:nvPr/>
        </p:nvSpPr>
        <p:spPr>
          <a:xfrm xmlns:a="http://schemas.openxmlformats.org/drawingml/2006/main">
            <a:off x="4381500" y="37814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425" b="0">
                <a:solidFill>
                  <a:srgbClr val="A9DCE1"/>
                </a:solidFill>
                <a:latin typeface="Arial"/>
                <a:ea typeface="Arial"/>
                <a:cs typeface="Arial"/>
              </a:defRPr>
            </a:pPr>
            <a:r>
              <a:rPr sz="1425" b="0">
                <a:solidFill>
                  <a:srgbClr val="A9DCE1"/>
                </a:solidFill>
                <a:latin typeface="Arial"/>
                <a:ea typeface="Arial"/>
                <a:cs typeface="Arial"/>
              </a:rPr>
              <a:t>macro F1</a:t>
            </a:r>
          </a:p>
        </p:txBody>
      </p:sp>
      <p:sp>
        <p:nvSpPr>
          <p:cNvPr id="7" name="">
            <a:extLst xmlns:a="http://schemas.openxmlformats.org/drawingml/2006/main">
              <a:ext uri="{FF2B5EF4-FFF2-40B4-BE49-F238E27FC236}">
                <a16:creationId xmlns:a16="http://schemas.microsoft.com/office/drawing/2014/main" id="{679B7D66-8D27-4F97-833F-8330D73E5780}"/>
              </a:ext>
            </a:extLst>
          </p:cNvPr>
          <p:cNvSpPr>
            <a:spLocks xmlns:a="http://schemas.openxmlformats.org/drawingml/2006/main" noGrp="1"/>
          </p:cNvSpPr>
          <p:nvPr/>
        </p:nvSpPr>
        <p:spPr>
          <a:xfrm xmlns:a="http://schemas.openxmlformats.org/drawingml/2006/main">
            <a:off x="685800" y="4857750"/>
            <a:ext cx="228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Future work</a:t>
            </a:r>
          </a:p>
        </p:txBody>
      </p:sp>
      <p:sp>
        <p:nvSpPr>
          <p:cNvPr id="8" name="">
            <a:extLst xmlns:a="http://schemas.openxmlformats.org/drawingml/2006/main">
              <a:ext uri="{FF2B5EF4-FFF2-40B4-BE49-F238E27FC236}">
                <a16:creationId xmlns:a16="http://schemas.microsoft.com/office/drawing/2014/main" id="{B905F5B9-5FF3-49F0-A330-7D0A78183961}"/>
              </a:ext>
            </a:extLst>
          </p:cNvPr>
          <p:cNvSpPr>
            <a:spLocks xmlns:a="http://schemas.openxmlformats.org/drawingml/2006/main" noGrp="1"/>
          </p:cNvSpPr>
          <p:nvPr/>
        </p:nvSpPr>
        <p:spPr>
          <a:xfrm xmlns:a="http://schemas.openxmlformats.org/drawingml/2006/main">
            <a:off x="685800" y="53149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3750"/>
          </a:bodyPr>
          <a:lstStyle xmlns:a="http://schemas.openxmlformats.org/drawingml/2006/main"/>
          <a:p xmlns:a="http://schemas.openxmlformats.org/drawingml/2006/main">
            <a:pPr algn="l">
              <a:defRPr sz="1500" b="0">
                <a:solidFill>
                  <a:srgbClr val="D9F3F3"/>
                </a:solidFill>
                <a:latin typeface="Arial"/>
                <a:ea typeface="Arial"/>
                <a:cs typeface="Arial"/>
              </a:defRPr>
            </a:pPr>
            <a:r>
              <a:rPr sz="1500" b="0">
                <a:solidFill>
                  <a:srgbClr val="D9F3F3"/>
                </a:solidFill>
                <a:latin typeface="Arial"/>
                <a:ea typeface="Arial"/>
                <a:cs typeface="Arial"/>
              </a:rPr>
              <a:t>More trash images</a:t>
            </a:r>
          </a:p>
          <a:p xmlns:a="http://schemas.openxmlformats.org/drawingml/2006/main">
            <a:pPr algn="l">
              <a:defRPr sz="1500" b="0">
                <a:solidFill>
                  <a:srgbClr val="D9F3F3"/>
                </a:solidFill>
                <a:latin typeface="Arial"/>
                <a:ea typeface="Arial"/>
                <a:cs typeface="Arial"/>
              </a:defRPr>
            </a:pPr>
            <a:r>
              <a:rPr sz="1500" b="0">
                <a:solidFill>
                  <a:srgbClr val="D9F3F3"/>
                </a:solidFill>
                <a:latin typeface="Arial"/>
                <a:ea typeface="Arial"/>
                <a:cs typeface="Arial"/>
              </a:rPr>
              <a:t>More realistic backgrounds</a:t>
            </a:r>
          </a:p>
          <a:p xmlns:a="http://schemas.openxmlformats.org/drawingml/2006/main">
            <a:pPr algn="l">
              <a:defRPr sz="1500" b="0">
                <a:solidFill>
                  <a:srgbClr val="D9F3F3"/>
                </a:solidFill>
                <a:latin typeface="Arial"/>
                <a:ea typeface="Arial"/>
                <a:cs typeface="Arial"/>
              </a:defRPr>
            </a:pPr>
            <a:r>
              <a:rPr sz="1500" b="0">
                <a:solidFill>
                  <a:srgbClr val="D9F3F3"/>
                </a:solidFill>
                <a:latin typeface="Arial"/>
                <a:ea typeface="Arial"/>
                <a:cs typeface="Arial"/>
              </a:rPr>
              <a:t>Documented tuning experiments</a:t>
            </a:r>
          </a:p>
          <a:p xmlns:a="http://schemas.openxmlformats.org/drawingml/2006/main">
            <a:pPr algn="l">
              <a:defRPr sz="1500" b="0">
                <a:solidFill>
                  <a:srgbClr val="D9F3F3"/>
                </a:solidFill>
                <a:latin typeface="Arial"/>
                <a:ea typeface="Arial"/>
                <a:cs typeface="Arial"/>
              </a:defRPr>
            </a:pPr>
            <a:r>
              <a:rPr sz="1500" b="0">
                <a:solidFill>
                  <a:srgbClr val="D9F3F3"/>
                </a:solidFill>
                <a:latin typeface="Arial"/>
                <a:ea typeface="Arial"/>
                <a:cs typeface="Arial"/>
              </a:rPr>
              <a:t>Transfer-learning comparison</a:t>
            </a:r>
          </a:p>
        </p:txBody>
      </p:sp>
      <p:sp>
        <p:nvSpPr>
          <p:cNvPr id="9" name="">
            <a:extLst xmlns:a="http://schemas.openxmlformats.org/drawingml/2006/main">
              <a:ext uri="{FF2B5EF4-FFF2-40B4-BE49-F238E27FC236}">
                <a16:creationId xmlns:a16="http://schemas.microsoft.com/office/drawing/2014/main" id="{28270D10-7127-478C-BBDC-A6285D8D8DE9}"/>
              </a:ext>
            </a:extLst>
          </p:cNvPr>
          <p:cNvSpPr>
            <a:spLocks xmlns:a="http://schemas.openxmlformats.org/drawingml/2006/main" noGrp="1"/>
          </p:cNvSpPr>
          <p:nvPr/>
        </p:nvSpPr>
        <p:spPr>
          <a:xfrm xmlns:a="http://schemas.openxmlformats.org/drawingml/2006/main">
            <a:off x="8524875" y="55721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325" b="1">
                <a:solidFill>
                  <a:srgbClr val="7CE0E4"/>
                </a:solidFill>
                <a:latin typeface="Arial"/>
                <a:ea typeface="Arial"/>
                <a:cs typeface="Arial"/>
              </a:defRPr>
            </a:pPr>
            <a:r>
              <a:rPr sz="2325" b="1">
                <a:solidFill>
                  <a:srgbClr val="7CE0E4"/>
                </a:solidFill>
                <a:latin typeface="Arial"/>
                <a:ea typeface="Arial"/>
                <a:cs typeface="Arial"/>
              </a:rPr>
              <a:t>Thank you</a:t>
            </a:r>
          </a:p>
        </p:txBody>
      </p:sp>
    </p:spTree>
    <p:extLst>
      <p:ext uri="{BB962C8B-B14F-4D97-AF65-F5344CB8AC3E}">
        <p14:creationId xmlns:p14="http://schemas.microsoft.com/office/powerpoint/2010/main" val="919582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2026-09-10T20:05:34.9590000Z</dcterms:created>
  <dcterms:modified xsi:type="dcterms:W3CDTF">2026-09-10T20:05:34.9590000Z</dcterms:modified>
</coreProperties>
</file>